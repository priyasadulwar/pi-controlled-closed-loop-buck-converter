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313" r:id="rId3"/>
    <p:sldId id="259" r:id="rId4"/>
    <p:sldId id="261" r:id="rId5"/>
    <p:sldId id="304" r:id="rId6"/>
    <p:sldId id="305" r:id="rId7"/>
    <p:sldId id="306" r:id="rId8"/>
    <p:sldId id="307" r:id="rId9"/>
    <p:sldId id="308" r:id="rId10"/>
    <p:sldId id="316" r:id="rId11"/>
    <p:sldId id="317" r:id="rId12"/>
    <p:sldId id="270" r:id="rId13"/>
    <p:sldId id="262" r:id="rId14"/>
    <p:sldId id="310" r:id="rId15"/>
    <p:sldId id="314" r:id="rId16"/>
    <p:sldId id="315" r:id="rId17"/>
    <p:sldId id="263" r:id="rId18"/>
    <p:sldId id="312" r:id="rId19"/>
    <p:sldId id="311" r:id="rId20"/>
  </p:sldIdLst>
  <p:sldSz cx="9144000" cy="5143500" type="screen16x9"/>
  <p:notesSz cx="6858000" cy="9144000"/>
  <p:embeddedFontLst>
    <p:embeddedFont>
      <p:font typeface="Bebas Neue" panose="02000000000000000000" pitchFamily="2" charset="0"/>
      <p:regular r:id="rId22"/>
    </p:embeddedFont>
    <p:embeddedFont>
      <p:font typeface="Mulish" pitchFamily="2" charset="0"/>
      <p:regular r:id="rId23"/>
    </p:embeddedFont>
    <p:embeddedFont>
      <p:font typeface="PT Sans" panose="020B0503020203020204" pitchFamily="34" charset="0"/>
      <p:regular r:id="rId24"/>
      <p:bold r:id="rId25"/>
      <p:italic r:id="rId26"/>
      <p:boldItalic r:id="rId27"/>
    </p:embeddedFont>
    <p:embeddedFont>
      <p:font typeface="Quicksand" pitchFamily="2" charset="0"/>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89CA2BF-10AD-4570-80CD-5796BF36448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font" Target="fonts/font5.fntdata" /><Relationship Id="rId3" Type="http://schemas.openxmlformats.org/officeDocument/2006/relationships/slide" Target="slides/slide2.xml" /><Relationship Id="rId21" Type="http://schemas.openxmlformats.org/officeDocument/2006/relationships/notesMaster" Target="notesMasters/notes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font" Target="fonts/font4.fntdata"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3.fntdata" /><Relationship Id="rId32"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2.fntdata" /><Relationship Id="rId28" Type="http://schemas.openxmlformats.org/officeDocument/2006/relationships/font" Target="fonts/font7.fntdata"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font" Target="fonts/font1.fntdata" /><Relationship Id="rId27" Type="http://schemas.openxmlformats.org/officeDocument/2006/relationships/font" Target="fonts/font6.fntdata" /><Relationship Id="rId30"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338081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780750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1dd46dd1d67_2_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1dd46dd1d67_2_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1dd46dd1d67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1dd46dd1d67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1dd46dd1d67_2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1dd46dd1d67_2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609200" y="1424875"/>
            <a:ext cx="5925600" cy="2079300"/>
          </a:xfrm>
          <a:prstGeom prst="rect">
            <a:avLst/>
          </a:prstGeom>
          <a:noFill/>
        </p:spPr>
        <p:txBody>
          <a:bodyPr spcFirstLastPara="1" wrap="square" lIns="91425" tIns="91425" rIns="91425" bIns="91425" anchor="ctr" anchorCtr="0">
            <a:noAutofit/>
          </a:bodyPr>
          <a:lstStyle>
            <a:lvl1pPr lvl="0" algn="ctr">
              <a:lnSpc>
                <a:spcPct val="115000"/>
              </a:lnSpc>
              <a:spcBef>
                <a:spcPts val="0"/>
              </a:spcBef>
              <a:spcAft>
                <a:spcPts val="0"/>
              </a:spcAft>
              <a:buSzPts val="5200"/>
              <a:buNone/>
              <a:defRPr sz="7200" b="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609200" y="3573775"/>
            <a:ext cx="5942700" cy="47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3"/>
        <p:cNvGrpSpPr/>
        <p:nvPr/>
      </p:nvGrpSpPr>
      <p:grpSpPr>
        <a:xfrm>
          <a:off x="0" y="0"/>
          <a:ext cx="0" cy="0"/>
          <a:chOff x="0" y="0"/>
          <a:chExt cx="0" cy="0"/>
        </a:xfrm>
      </p:grpSpPr>
      <p:sp>
        <p:nvSpPr>
          <p:cNvPr id="14" name="Google Shape;14;p3"/>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txBox="1">
            <a:spLocks noGrp="1"/>
          </p:cNvSpPr>
          <p:nvPr>
            <p:ph type="title"/>
          </p:nvPr>
        </p:nvSpPr>
        <p:spPr>
          <a:xfrm>
            <a:off x="3579950" y="1854500"/>
            <a:ext cx="36048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1959250" y="1854500"/>
            <a:ext cx="1189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 name="Google Shape;17;p3"/>
          <p:cNvSpPr txBox="1">
            <a:spLocks noGrp="1"/>
          </p:cNvSpPr>
          <p:nvPr>
            <p:ph type="subTitle" idx="1"/>
          </p:nvPr>
        </p:nvSpPr>
        <p:spPr>
          <a:xfrm>
            <a:off x="1959250" y="2939075"/>
            <a:ext cx="5225400" cy="446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lvl1pPr>
            <a:lvl2pPr lvl="1" algn="ctr" rtl="0">
              <a:lnSpc>
                <a:spcPct val="100000"/>
              </a:lnSpc>
              <a:spcBef>
                <a:spcPts val="160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cxnSp>
        <p:nvCxnSpPr>
          <p:cNvPr id="18" name="Google Shape;18;p3"/>
          <p:cNvCxnSpPr/>
          <p:nvPr/>
        </p:nvCxnSpPr>
        <p:spPr>
          <a:xfrm rot="10800000">
            <a:off x="8761325" y="2079300"/>
            <a:ext cx="0" cy="984900"/>
          </a:xfrm>
          <a:prstGeom prst="straightConnector1">
            <a:avLst/>
          </a:prstGeom>
          <a:noFill/>
          <a:ln w="19050" cap="flat" cmpd="sng">
            <a:solidFill>
              <a:schemeClr val="lt1"/>
            </a:solidFill>
            <a:prstDash val="solid"/>
            <a:round/>
            <a:headEnd type="oval" w="med" len="med"/>
            <a:tailEnd type="oval" w="med" len="med"/>
          </a:ln>
        </p:spPr>
      </p:cxnSp>
      <p:cxnSp>
        <p:nvCxnSpPr>
          <p:cNvPr id="19" name="Google Shape;19;p3"/>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0" name="Google Shape;20;p3"/>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 name="Google Shape;21;p3"/>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2" name="Google Shape;22;p3"/>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3" name="Google Shape;23;p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GB"/>
              <a:t>‹#›</a:t>
            </a:fld>
            <a:endParaRPr lang="en-GB"/>
          </a:p>
        </p:txBody>
      </p:sp>
      <p:cxnSp>
        <p:nvCxnSpPr>
          <p:cNvPr id="24" name="Google Shape;24;p3"/>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5" name="Google Shape;25;p3"/>
          <p:cNvCxnSpPr/>
          <p:nvPr/>
        </p:nvCxnSpPr>
        <p:spPr>
          <a:xfrm rot="10800000">
            <a:off x="394350" y="2079300"/>
            <a:ext cx="0" cy="9849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7"/>
        <p:cNvGrpSpPr/>
        <p:nvPr/>
      </p:nvGrpSpPr>
      <p:grpSpPr>
        <a:xfrm>
          <a:off x="0" y="0"/>
          <a:ext cx="0" cy="0"/>
          <a:chOff x="0" y="0"/>
          <a:chExt cx="0" cy="0"/>
        </a:xfrm>
      </p:grpSpPr>
      <p:sp>
        <p:nvSpPr>
          <p:cNvPr id="78" name="Google Shape;78;p9"/>
          <p:cNvSpPr txBox="1">
            <a:spLocks noGrp="1"/>
          </p:cNvSpPr>
          <p:nvPr>
            <p:ph type="title"/>
          </p:nvPr>
        </p:nvSpPr>
        <p:spPr>
          <a:xfrm>
            <a:off x="720000" y="1413525"/>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9" name="Google Shape;79;p9"/>
          <p:cNvSpPr txBox="1">
            <a:spLocks noGrp="1"/>
          </p:cNvSpPr>
          <p:nvPr>
            <p:ph type="subTitle" idx="1"/>
          </p:nvPr>
        </p:nvSpPr>
        <p:spPr>
          <a:xfrm>
            <a:off x="720000" y="3508800"/>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0" name="Google Shape;80;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1"/>
        <p:cNvGrpSpPr/>
        <p:nvPr/>
      </p:nvGrpSpPr>
      <p:grpSpPr>
        <a:xfrm>
          <a:off x="0" y="0"/>
          <a:ext cx="0" cy="0"/>
          <a:chOff x="0" y="0"/>
          <a:chExt cx="0" cy="0"/>
        </a:xfrm>
      </p:grpSpPr>
      <p:sp>
        <p:nvSpPr>
          <p:cNvPr id="82" name="Google Shape;82;p10"/>
          <p:cNvSpPr>
            <a:spLocks noGrp="1"/>
          </p:cNvSpPr>
          <p:nvPr>
            <p:ph type="pic" idx="2"/>
          </p:nvPr>
        </p:nvSpPr>
        <p:spPr>
          <a:xfrm>
            <a:off x="0" y="0"/>
            <a:ext cx="9144000" cy="5143500"/>
          </a:xfrm>
          <a:prstGeom prst="rect">
            <a:avLst/>
          </a:prstGeom>
          <a:noFill/>
          <a:ln>
            <a:noFill/>
          </a:ln>
        </p:spPr>
      </p:sp>
      <p:sp>
        <p:nvSpPr>
          <p:cNvPr id="83" name="Google Shape;83;p10"/>
          <p:cNvSpPr txBox="1">
            <a:spLocks noGrp="1"/>
          </p:cNvSpPr>
          <p:nvPr>
            <p:ph type="title"/>
          </p:nvPr>
        </p:nvSpPr>
        <p:spPr>
          <a:xfrm>
            <a:off x="713225" y="4162975"/>
            <a:ext cx="7917300" cy="541500"/>
          </a:xfrm>
          <a:prstGeom prst="rect">
            <a:avLst/>
          </a:prstGeom>
          <a:solidFill>
            <a:schemeClr val="lt1"/>
          </a:solid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a:solidFill>
                  <a:schemeClr val="dk2"/>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4"/>
        <p:cNvGrpSpPr/>
        <p:nvPr/>
      </p:nvGrpSpPr>
      <p:grpSpPr>
        <a:xfrm>
          <a:off x="0" y="0"/>
          <a:ext cx="0" cy="0"/>
          <a:chOff x="0" y="0"/>
          <a:chExt cx="0" cy="0"/>
        </a:xfrm>
      </p:grpSpPr>
      <p:sp>
        <p:nvSpPr>
          <p:cNvPr id="85" name="Google Shape;85;p11"/>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 name="Google Shape;86;p11"/>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87" name="Google Shape;87;p11"/>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 name="Google Shape;88;p11"/>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89" name="Google Shape;89;p11"/>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90" name="Google Shape;90;p11"/>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GB"/>
              <a:t>‹#›</a:t>
            </a:fld>
            <a:endParaRPr lang="en-GB"/>
          </a:p>
        </p:txBody>
      </p:sp>
      <p:cxnSp>
        <p:nvCxnSpPr>
          <p:cNvPr id="91" name="Google Shape;91;p11"/>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92" name="Google Shape;92;p11"/>
          <p:cNvSpPr txBox="1">
            <a:spLocks noGrp="1"/>
          </p:cNvSpPr>
          <p:nvPr>
            <p:ph type="title" hasCustomPrompt="1"/>
          </p:nvPr>
        </p:nvSpPr>
        <p:spPr>
          <a:xfrm>
            <a:off x="1284000" y="1429725"/>
            <a:ext cx="6576000" cy="14088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3" name="Google Shape;93;p11"/>
          <p:cNvSpPr txBox="1">
            <a:spLocks noGrp="1"/>
          </p:cNvSpPr>
          <p:nvPr>
            <p:ph type="subTitle" idx="1"/>
          </p:nvPr>
        </p:nvSpPr>
        <p:spPr>
          <a:xfrm>
            <a:off x="1284000" y="2985500"/>
            <a:ext cx="6576000" cy="4971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9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22"/>
        <p:cNvGrpSpPr/>
        <p:nvPr/>
      </p:nvGrpSpPr>
      <p:grpSpPr>
        <a:xfrm>
          <a:off x="0" y="0"/>
          <a:ext cx="0" cy="0"/>
          <a:chOff x="0" y="0"/>
          <a:chExt cx="0" cy="0"/>
        </a:xfrm>
      </p:grpSpPr>
      <p:sp>
        <p:nvSpPr>
          <p:cNvPr id="123" name="Google Shape;123;p1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4" name="Google Shape;124;p1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25" name="Google Shape;125;p1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6" name="Google Shape;126;p1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27" name="Google Shape;127;p1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28" name="Google Shape;128;p1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GB"/>
              <a:t>‹#›</a:t>
            </a:fld>
            <a:endParaRPr lang="en-GB"/>
          </a:p>
        </p:txBody>
      </p:sp>
      <p:cxnSp>
        <p:nvCxnSpPr>
          <p:cNvPr id="129" name="Google Shape;129;p1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30" name="Google Shape;130;p14"/>
          <p:cNvSpPr txBox="1">
            <a:spLocks noGrp="1"/>
          </p:cNvSpPr>
          <p:nvPr>
            <p:ph type="title"/>
          </p:nvPr>
        </p:nvSpPr>
        <p:spPr>
          <a:xfrm>
            <a:off x="969900" y="3387600"/>
            <a:ext cx="7204200" cy="531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a:solidFill>
                  <a:schemeClr val="dk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31" name="Google Shape;131;p14"/>
          <p:cNvSpPr txBox="1">
            <a:spLocks noGrp="1"/>
          </p:cNvSpPr>
          <p:nvPr>
            <p:ph type="subTitle" idx="1"/>
          </p:nvPr>
        </p:nvSpPr>
        <p:spPr>
          <a:xfrm>
            <a:off x="969900" y="1312625"/>
            <a:ext cx="7204200" cy="147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68"/>
        <p:cNvGrpSpPr/>
        <p:nvPr/>
      </p:nvGrpSpPr>
      <p:grpSpPr>
        <a:xfrm>
          <a:off x="0" y="0"/>
          <a:ext cx="0" cy="0"/>
          <a:chOff x="0" y="0"/>
          <a:chExt cx="0" cy="0"/>
        </a:xfrm>
      </p:grpSpPr>
      <p:sp>
        <p:nvSpPr>
          <p:cNvPr id="169" name="Google Shape;169;p18"/>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0" name="Google Shape;170;p18"/>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71" name="Google Shape;171;p18"/>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2" name="Google Shape;172;p18"/>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73" name="Google Shape;173;p18"/>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74" name="Google Shape;174;p18"/>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GB"/>
              <a:t>‹#›</a:t>
            </a:fld>
            <a:endParaRPr lang="en-GB"/>
          </a:p>
        </p:txBody>
      </p:sp>
      <p:cxnSp>
        <p:nvCxnSpPr>
          <p:cNvPr id="175" name="Google Shape;175;p18"/>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76" name="Google Shape;176;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7" name="Google Shape;177;p18"/>
          <p:cNvSpPr txBox="1">
            <a:spLocks noGrp="1"/>
          </p:cNvSpPr>
          <p:nvPr>
            <p:ph type="subTitle" idx="1"/>
          </p:nvPr>
        </p:nvSpPr>
        <p:spPr>
          <a:xfrm>
            <a:off x="720025" y="1610942"/>
            <a:ext cx="7704000" cy="530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8" name="Google Shape;178;p18"/>
          <p:cNvSpPr txBox="1">
            <a:spLocks noGrp="1"/>
          </p:cNvSpPr>
          <p:nvPr>
            <p:ph type="subTitle" idx="2"/>
          </p:nvPr>
        </p:nvSpPr>
        <p:spPr>
          <a:xfrm>
            <a:off x="720025" y="27311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9" name="Google Shape;179;p18"/>
          <p:cNvSpPr txBox="1">
            <a:spLocks noGrp="1"/>
          </p:cNvSpPr>
          <p:nvPr>
            <p:ph type="subTitle" idx="3"/>
          </p:nvPr>
        </p:nvSpPr>
        <p:spPr>
          <a:xfrm>
            <a:off x="720025" y="38516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80" name="Google Shape;180;p18"/>
          <p:cNvSpPr txBox="1">
            <a:spLocks noGrp="1"/>
          </p:cNvSpPr>
          <p:nvPr>
            <p:ph type="subTitle" idx="4"/>
          </p:nvPr>
        </p:nvSpPr>
        <p:spPr>
          <a:xfrm>
            <a:off x="720025" y="1241274"/>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panose="020B0606020202050201"/>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1600"/>
              </a:spcBef>
              <a:spcAft>
                <a:spcPts val="160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81" name="Google Shape;181;p18"/>
          <p:cNvSpPr txBox="1">
            <a:spLocks noGrp="1"/>
          </p:cNvSpPr>
          <p:nvPr>
            <p:ph type="subTitle" idx="5"/>
          </p:nvPr>
        </p:nvSpPr>
        <p:spPr>
          <a:xfrm>
            <a:off x="720025" y="23501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panose="020B0606020202050201"/>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1600"/>
              </a:spcBef>
              <a:spcAft>
                <a:spcPts val="160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82" name="Google Shape;182;p18"/>
          <p:cNvSpPr txBox="1">
            <a:spLocks noGrp="1"/>
          </p:cNvSpPr>
          <p:nvPr>
            <p:ph type="subTitle" idx="6"/>
          </p:nvPr>
        </p:nvSpPr>
        <p:spPr>
          <a:xfrm>
            <a:off x="720025" y="34706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panose="020B0606020202050201"/>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160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1600"/>
              </a:spcBef>
              <a:spcAft>
                <a:spcPts val="160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215"/>
        <p:cNvGrpSpPr/>
        <p:nvPr/>
      </p:nvGrpSpPr>
      <p:grpSpPr>
        <a:xfrm>
          <a:off x="0" y="0"/>
          <a:ext cx="0" cy="0"/>
          <a:chOff x="0" y="0"/>
          <a:chExt cx="0" cy="0"/>
        </a:xfrm>
      </p:grpSpPr>
      <p:sp>
        <p:nvSpPr>
          <p:cNvPr id="216" name="Google Shape;216;p21"/>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7" name="Google Shape;217;p21"/>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18" name="Google Shape;218;p21"/>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9" name="Google Shape;219;p21"/>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20" name="Google Shape;220;p21"/>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21" name="Google Shape;221;p21"/>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GB"/>
              <a:t>‹#›</a:t>
            </a:fld>
            <a:endParaRPr lang="en-GB"/>
          </a:p>
        </p:txBody>
      </p:sp>
      <p:cxnSp>
        <p:nvCxnSpPr>
          <p:cNvPr id="222" name="Google Shape;222;p21"/>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223" name="Google Shape;223;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4" name="Google Shape;224;p21"/>
          <p:cNvSpPr txBox="1">
            <a:spLocks noGrp="1"/>
          </p:cNvSpPr>
          <p:nvPr>
            <p:ph type="subTitle" idx="1"/>
          </p:nvPr>
        </p:nvSpPr>
        <p:spPr>
          <a:xfrm>
            <a:off x="903950" y="2149201"/>
            <a:ext cx="2191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25" name="Google Shape;225;p21"/>
          <p:cNvSpPr txBox="1">
            <a:spLocks noGrp="1"/>
          </p:cNvSpPr>
          <p:nvPr>
            <p:ph type="subTitle" idx="2"/>
          </p:nvPr>
        </p:nvSpPr>
        <p:spPr>
          <a:xfrm>
            <a:off x="3478550" y="2149201"/>
            <a:ext cx="21825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26" name="Google Shape;226;p21"/>
          <p:cNvSpPr txBox="1">
            <a:spLocks noGrp="1"/>
          </p:cNvSpPr>
          <p:nvPr>
            <p:ph type="subTitle" idx="3"/>
          </p:nvPr>
        </p:nvSpPr>
        <p:spPr>
          <a:xfrm>
            <a:off x="903950" y="3579425"/>
            <a:ext cx="2191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27" name="Google Shape;227;p21"/>
          <p:cNvSpPr txBox="1">
            <a:spLocks noGrp="1"/>
          </p:cNvSpPr>
          <p:nvPr>
            <p:ph type="subTitle" idx="4"/>
          </p:nvPr>
        </p:nvSpPr>
        <p:spPr>
          <a:xfrm>
            <a:off x="3478550" y="3579425"/>
            <a:ext cx="21825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28" name="Google Shape;228;p21"/>
          <p:cNvSpPr txBox="1">
            <a:spLocks noGrp="1"/>
          </p:cNvSpPr>
          <p:nvPr>
            <p:ph type="subTitle" idx="5"/>
          </p:nvPr>
        </p:nvSpPr>
        <p:spPr>
          <a:xfrm>
            <a:off x="6048850" y="2149201"/>
            <a:ext cx="21999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29" name="Google Shape;229;p21"/>
          <p:cNvSpPr txBox="1">
            <a:spLocks noGrp="1"/>
          </p:cNvSpPr>
          <p:nvPr>
            <p:ph type="subTitle" idx="6"/>
          </p:nvPr>
        </p:nvSpPr>
        <p:spPr>
          <a:xfrm>
            <a:off x="6048850" y="3579425"/>
            <a:ext cx="21999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30" name="Google Shape;230;p21"/>
          <p:cNvSpPr txBox="1">
            <a:spLocks noGrp="1"/>
          </p:cNvSpPr>
          <p:nvPr>
            <p:ph type="subTitle" idx="7"/>
          </p:nvPr>
        </p:nvSpPr>
        <p:spPr>
          <a:xfrm>
            <a:off x="908250" y="1656600"/>
            <a:ext cx="2182500" cy="4425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panose="020B0606020202050201"/>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31" name="Google Shape;231;p21"/>
          <p:cNvSpPr txBox="1">
            <a:spLocks noGrp="1"/>
          </p:cNvSpPr>
          <p:nvPr>
            <p:ph type="subTitle" idx="8"/>
          </p:nvPr>
        </p:nvSpPr>
        <p:spPr>
          <a:xfrm>
            <a:off x="3482836" y="1656600"/>
            <a:ext cx="2173800" cy="4425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panose="020B0606020202050201"/>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32" name="Google Shape;232;p21"/>
          <p:cNvSpPr txBox="1">
            <a:spLocks noGrp="1"/>
          </p:cNvSpPr>
          <p:nvPr>
            <p:ph type="subTitle" idx="9"/>
          </p:nvPr>
        </p:nvSpPr>
        <p:spPr>
          <a:xfrm>
            <a:off x="6053173" y="1656600"/>
            <a:ext cx="2191200" cy="4425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panose="020B0606020202050201"/>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33" name="Google Shape;233;p21"/>
          <p:cNvSpPr txBox="1">
            <a:spLocks noGrp="1"/>
          </p:cNvSpPr>
          <p:nvPr>
            <p:ph type="subTitle" idx="13"/>
          </p:nvPr>
        </p:nvSpPr>
        <p:spPr>
          <a:xfrm>
            <a:off x="908250" y="3086800"/>
            <a:ext cx="2182500" cy="4425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panose="020B0606020202050201"/>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34" name="Google Shape;234;p21"/>
          <p:cNvSpPr txBox="1">
            <a:spLocks noGrp="1"/>
          </p:cNvSpPr>
          <p:nvPr>
            <p:ph type="subTitle" idx="14"/>
          </p:nvPr>
        </p:nvSpPr>
        <p:spPr>
          <a:xfrm>
            <a:off x="3482836" y="3086800"/>
            <a:ext cx="2173800" cy="4425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panose="020B0606020202050201"/>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235" name="Google Shape;235;p21"/>
          <p:cNvSpPr txBox="1">
            <a:spLocks noGrp="1"/>
          </p:cNvSpPr>
          <p:nvPr>
            <p:ph type="subTitle" idx="15"/>
          </p:nvPr>
        </p:nvSpPr>
        <p:spPr>
          <a:xfrm>
            <a:off x="6053173" y="3086800"/>
            <a:ext cx="2191200" cy="4425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panose="020B0606020202050201"/>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SzPts val="2400"/>
              <a:buFont typeface="Bebas Neue" panose="020B0606020202050201"/>
              <a:buNone/>
              <a:defRPr sz="2400">
                <a:latin typeface="Bebas Neue" panose="020B0606020202050201"/>
                <a:ea typeface="Bebas Neue" panose="020B0606020202050201"/>
                <a:cs typeface="Bebas Neue" panose="020B0606020202050201"/>
                <a:sym typeface="Bebas Neue" panose="020B0606020202050201"/>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umbers and text">
  <p:cSld name="CUSTOM_8_1">
    <p:spTree>
      <p:nvGrpSpPr>
        <p:cNvPr id="1" name="Shape 236"/>
        <p:cNvGrpSpPr/>
        <p:nvPr/>
      </p:nvGrpSpPr>
      <p:grpSpPr>
        <a:xfrm>
          <a:off x="0" y="0"/>
          <a:ext cx="0" cy="0"/>
          <a:chOff x="0" y="0"/>
          <a:chExt cx="0" cy="0"/>
        </a:xfrm>
      </p:grpSpPr>
      <p:sp>
        <p:nvSpPr>
          <p:cNvPr id="237" name="Google Shape;237;p22"/>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8" name="Google Shape;238;p22"/>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39" name="Google Shape;239;p22"/>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0" name="Google Shape;240;p22"/>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41" name="Google Shape;241;p22"/>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42" name="Google Shape;242;p22"/>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GB"/>
              <a:t>‹#›</a:t>
            </a:fld>
            <a:endParaRPr lang="en-GB"/>
          </a:p>
        </p:txBody>
      </p:sp>
      <p:cxnSp>
        <p:nvCxnSpPr>
          <p:cNvPr id="243" name="Google Shape;243;p22"/>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244" name="Google Shape;244;p22"/>
          <p:cNvSpPr txBox="1">
            <a:spLocks noGrp="1"/>
          </p:cNvSpPr>
          <p:nvPr>
            <p:ph type="title" hasCustomPrompt="1"/>
          </p:nvPr>
        </p:nvSpPr>
        <p:spPr>
          <a:xfrm>
            <a:off x="2223600" y="552112"/>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5" name="Google Shape;245;p22"/>
          <p:cNvSpPr txBox="1">
            <a:spLocks noGrp="1"/>
          </p:cNvSpPr>
          <p:nvPr>
            <p:ph type="subTitle" idx="1"/>
          </p:nvPr>
        </p:nvSpPr>
        <p:spPr>
          <a:xfrm>
            <a:off x="2223600" y="1364275"/>
            <a:ext cx="4696800" cy="4287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dk1"/>
              </a:buClr>
              <a:buSzPts val="2400"/>
              <a:buFont typeface="PT Sans" panose="020B0503020203020204"/>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9pPr>
          </a:lstStyle>
          <a:p>
            <a:endParaRPr/>
          </a:p>
        </p:txBody>
      </p:sp>
      <p:sp>
        <p:nvSpPr>
          <p:cNvPr id="246" name="Google Shape;246;p22"/>
          <p:cNvSpPr txBox="1">
            <a:spLocks noGrp="1"/>
          </p:cNvSpPr>
          <p:nvPr>
            <p:ph type="title" idx="2" hasCustomPrompt="1"/>
          </p:nvPr>
        </p:nvSpPr>
        <p:spPr>
          <a:xfrm>
            <a:off x="2223600" y="1904368"/>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5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7" name="Google Shape;247;p22"/>
          <p:cNvSpPr txBox="1">
            <a:spLocks noGrp="1"/>
          </p:cNvSpPr>
          <p:nvPr>
            <p:ph type="subTitle" idx="3"/>
          </p:nvPr>
        </p:nvSpPr>
        <p:spPr>
          <a:xfrm>
            <a:off x="2223600" y="2716527"/>
            <a:ext cx="4696800" cy="4467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dk1"/>
              </a:buClr>
              <a:buSzPts val="2400"/>
              <a:buFont typeface="PT Sans" panose="020B0503020203020204"/>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9pPr>
          </a:lstStyle>
          <a:p>
            <a:endParaRPr/>
          </a:p>
        </p:txBody>
      </p:sp>
      <p:sp>
        <p:nvSpPr>
          <p:cNvPr id="248" name="Google Shape;248;p22"/>
          <p:cNvSpPr txBox="1">
            <a:spLocks noGrp="1"/>
          </p:cNvSpPr>
          <p:nvPr>
            <p:ph type="title" idx="4" hasCustomPrompt="1"/>
          </p:nvPr>
        </p:nvSpPr>
        <p:spPr>
          <a:xfrm>
            <a:off x="2223600" y="3256624"/>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9" name="Google Shape;249;p22"/>
          <p:cNvSpPr txBox="1">
            <a:spLocks noGrp="1"/>
          </p:cNvSpPr>
          <p:nvPr>
            <p:ph type="subTitle" idx="5"/>
          </p:nvPr>
        </p:nvSpPr>
        <p:spPr>
          <a:xfrm>
            <a:off x="2223600" y="4068797"/>
            <a:ext cx="4696800" cy="4467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dk1"/>
              </a:buClr>
              <a:buSzPts val="2400"/>
              <a:buFont typeface="PT Sans" panose="020B0503020203020204"/>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2100"/>
              <a:buFont typeface="PT Sans" panose="020B0503020203020204"/>
              <a:buNone/>
              <a:defRPr sz="2100">
                <a:solidFill>
                  <a:schemeClr val="dk1"/>
                </a:solidFill>
                <a:latin typeface="PT Sans" panose="020B0503020203020204"/>
                <a:ea typeface="PT Sans" panose="020B0503020203020204"/>
                <a:cs typeface="PT Sans" panose="020B0503020203020204"/>
                <a:sym typeface="PT Sans" panose="020B0503020203020204"/>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59"/>
        <p:cNvGrpSpPr/>
        <p:nvPr/>
      </p:nvGrpSpPr>
      <p:grpSpPr>
        <a:xfrm>
          <a:off x="0" y="0"/>
          <a:ext cx="0" cy="0"/>
          <a:chOff x="0" y="0"/>
          <a:chExt cx="0" cy="0"/>
        </a:xfrm>
      </p:grpSpPr>
      <p:sp>
        <p:nvSpPr>
          <p:cNvPr id="260" name="Google Shape;260;p2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cxnSp>
        <p:nvCxnSpPr>
          <p:cNvPr id="262" name="Google Shape;262;p2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63" name="Google Shape;263;p2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4" name="Google Shape;264;p2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65" name="Google Shape;265;p2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66" name="Google Shape;266;p24"/>
          <p:cNvSpPr txBox="1">
            <a:spLocks noGrp="1"/>
          </p:cNvSpPr>
          <p:nvPr>
            <p:ph type="sldNum" idx="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lt1"/>
                </a:solidFill>
              </a:defRPr>
            </a:lvl1pPr>
            <a:lvl2pPr lvl="1" algn="ctr" rtl="0">
              <a:buNone/>
              <a:defRPr>
                <a:solidFill>
                  <a:schemeClr val="lt1"/>
                </a:solidFill>
              </a:defRPr>
            </a:lvl2pPr>
            <a:lvl3pPr lvl="2" algn="ctr" rtl="0">
              <a:buNone/>
              <a:defRPr>
                <a:solidFill>
                  <a:schemeClr val="lt1"/>
                </a:solidFill>
              </a:defRPr>
            </a:lvl3pPr>
            <a:lvl4pPr lvl="3" algn="ctr" rtl="0">
              <a:buNone/>
              <a:defRPr>
                <a:solidFill>
                  <a:schemeClr val="lt1"/>
                </a:solidFill>
              </a:defRPr>
            </a:lvl4pPr>
            <a:lvl5pPr lvl="4" algn="ctr" rtl="0">
              <a:buNone/>
              <a:defRPr>
                <a:solidFill>
                  <a:schemeClr val="lt1"/>
                </a:solidFill>
              </a:defRPr>
            </a:lvl5pPr>
            <a:lvl6pPr lvl="5" algn="ctr" rtl="0">
              <a:buNone/>
              <a:defRPr>
                <a:solidFill>
                  <a:schemeClr val="lt1"/>
                </a:solidFill>
              </a:defRPr>
            </a:lvl6pPr>
            <a:lvl7pPr lvl="6" algn="ctr" rtl="0">
              <a:buNone/>
              <a:defRPr>
                <a:solidFill>
                  <a:schemeClr val="lt1"/>
                </a:solidFill>
              </a:defRPr>
            </a:lvl7pPr>
            <a:lvl8pPr lvl="7" algn="ctr" rtl="0">
              <a:buNone/>
              <a:defRPr>
                <a:solidFill>
                  <a:schemeClr val="lt1"/>
                </a:solidFill>
              </a:defRPr>
            </a:lvl8pPr>
            <a:lvl9pPr lvl="8" algn="ctr" rtl="0">
              <a:buNone/>
              <a:defRPr>
                <a:solidFill>
                  <a:schemeClr val="lt1"/>
                </a:solidFill>
              </a:defRPr>
            </a:lvl9pPr>
          </a:lstStyle>
          <a:p>
            <a:pPr marL="0" lvl="0" indent="0" algn="ctr" rtl="0">
              <a:spcBef>
                <a:spcPts val="0"/>
              </a:spcBef>
              <a:spcAft>
                <a:spcPts val="0"/>
              </a:spcAft>
              <a:buNone/>
            </a:pPr>
            <a:fld id="{00000000-1234-1234-1234-123412341234}" type="slidenum">
              <a:rPr lang="en-GB"/>
              <a:t>‹#›</a:t>
            </a:fld>
            <a:endParaRPr lang="en-GB"/>
          </a:p>
        </p:txBody>
      </p:sp>
      <p:cxnSp>
        <p:nvCxnSpPr>
          <p:cNvPr id="267" name="Google Shape;267;p2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68"/>
        <p:cNvGrpSpPr/>
        <p:nvPr/>
      </p:nvGrpSpPr>
      <p:grpSpPr>
        <a:xfrm>
          <a:off x="0" y="0"/>
          <a:ext cx="0" cy="0"/>
          <a:chOff x="0" y="0"/>
          <a:chExt cx="0" cy="0"/>
        </a:xfrm>
      </p:grpSpPr>
      <p:sp>
        <p:nvSpPr>
          <p:cNvPr id="269" name="Google Shape;269;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
        <p:nvSpPr>
          <p:cNvPr id="270" name="Google Shape;270;p25"/>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1" name="Google Shape;271;p25"/>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72" name="Google Shape;272;p25"/>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3" name="Google Shape;273;p25"/>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74" name="Google Shape;274;p25"/>
          <p:cNvCxnSpPr/>
          <p:nvPr/>
        </p:nvCxnSpPr>
        <p:spPr>
          <a:xfrm rot="10800000" flipH="1">
            <a:off x="347659" y="4749851"/>
            <a:ext cx="8448600" cy="330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1pPr>
            <a:lvl2pPr lvl="1"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2pPr>
            <a:lvl3pPr lvl="2"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3pPr>
            <a:lvl4pPr lvl="3"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4pPr>
            <a:lvl5pPr lvl="4"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5pPr>
            <a:lvl6pPr lvl="5"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6pPr>
            <a:lvl7pPr lvl="6"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7pPr>
            <a:lvl8pPr lvl="7"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8pPr>
            <a:lvl9pPr lvl="8"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6" r:id="rId3"/>
    <p:sldLayoutId id="2147483657" r:id="rId4"/>
    <p:sldLayoutId id="2147483658" r:id="rId5"/>
    <p:sldLayoutId id="2147483659" r:id="rId6"/>
    <p:sldLayoutId id="2147483661" r:id="rId7"/>
    <p:sldLayoutId id="2147483665" r:id="rId8"/>
    <p:sldLayoutId id="2147483668" r:id="rId9"/>
    <p:sldLayoutId id="2147483669" r:id="rId10"/>
    <p:sldLayoutId id="2147483671" r:id="rId11"/>
    <p:sldLayoutId id="2147483672"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8" Type="http://schemas.openxmlformats.org/officeDocument/2006/relationships/image" Target="../media/image9.jpeg" /><Relationship Id="rId3" Type="http://schemas.openxmlformats.org/officeDocument/2006/relationships/image" Target="../media/image4.jpeg" /><Relationship Id="rId7" Type="http://schemas.openxmlformats.org/officeDocument/2006/relationships/image" Target="../media/image8.jpeg" /><Relationship Id="rId2" Type="http://schemas.openxmlformats.org/officeDocument/2006/relationships/notesSlide" Target="../notesSlides/notesSlide6.xml" /><Relationship Id="rId1" Type="http://schemas.openxmlformats.org/officeDocument/2006/relationships/slideLayout" Target="../slideLayouts/slideLayout9.xml" /><Relationship Id="rId6" Type="http://schemas.openxmlformats.org/officeDocument/2006/relationships/image" Target="../media/image7.jpeg" /><Relationship Id="rId5" Type="http://schemas.openxmlformats.org/officeDocument/2006/relationships/image" Target="../media/image6.jpeg" /><Relationship Id="rId4" Type="http://schemas.openxmlformats.org/officeDocument/2006/relationships/image" Target="../media/image5.jpeg" /></Relationships>
</file>

<file path=ppt/slides/_rels/slide13.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7.xml" /><Relationship Id="rId1" Type="http://schemas.openxmlformats.org/officeDocument/2006/relationships/slideLayout" Target="../slideLayouts/slideLayout5.xml" /></Relationships>
</file>

<file path=ppt/slides/_rels/slide14.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5.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0.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29"/>
          <p:cNvSpPr txBox="1">
            <a:spLocks noGrp="1"/>
          </p:cNvSpPr>
          <p:nvPr>
            <p:ph type="ctrTitle"/>
          </p:nvPr>
        </p:nvSpPr>
        <p:spPr>
          <a:xfrm>
            <a:off x="677564" y="2211705"/>
            <a:ext cx="7788771" cy="143954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a:solidFill>
                  <a:schemeClr val="bg2">
                    <a:lumMod val="50000"/>
                  </a:schemeClr>
                </a:solidFill>
                <a:latin typeface="+mn-lt"/>
              </a:rPr>
              <a:t>TITLE - PI CONTROLLED CLOSED LOOP BUCK CONVERTER</a:t>
            </a:r>
          </a:p>
        </p:txBody>
      </p:sp>
      <p:sp>
        <p:nvSpPr>
          <p:cNvPr id="286" name="Google Shape;286;p29"/>
          <p:cNvSpPr txBox="1">
            <a:spLocks noGrp="1"/>
          </p:cNvSpPr>
          <p:nvPr>
            <p:ph type="subTitle" idx="1"/>
          </p:nvPr>
        </p:nvSpPr>
        <p:spPr>
          <a:xfrm>
            <a:off x="291465" y="1424940"/>
            <a:ext cx="8272145" cy="79502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GB" sz="3000" b="1"/>
              <a:t>NATIONAL INSTITUTE OF TECHNOLOGY DELHI</a:t>
            </a:r>
            <a:endParaRPr lang="" altLang="en-US" sz="3000" b="1"/>
          </a:p>
        </p:txBody>
      </p:sp>
      <p:cxnSp>
        <p:nvCxnSpPr>
          <p:cNvPr id="287" name="Google Shape;287;p29"/>
          <p:cNvCxnSpPr/>
          <p:nvPr/>
        </p:nvCxnSpPr>
        <p:spPr>
          <a:xfrm rot="10800000" flipH="1">
            <a:off x="1600600" y="2544888"/>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288" name="Google Shape;288;p29"/>
          <p:cNvCxnSpPr/>
          <p:nvPr/>
        </p:nvCxnSpPr>
        <p:spPr>
          <a:xfrm rot="10800000" flipH="1">
            <a:off x="1600600" y="1348663"/>
            <a:ext cx="5942700" cy="6600"/>
          </a:xfrm>
          <a:prstGeom prst="straightConnector1">
            <a:avLst/>
          </a:prstGeom>
          <a:noFill/>
          <a:ln w="19050" cap="flat" cmpd="sng">
            <a:solidFill>
              <a:schemeClr val="lt1"/>
            </a:solidFill>
            <a:prstDash val="solid"/>
            <a:round/>
            <a:headEnd type="oval" w="med" len="med"/>
            <a:tailEnd type="oval" w="med" len="med"/>
          </a:ln>
        </p:spPr>
      </p:cxnSp>
      <p:pic>
        <p:nvPicPr>
          <p:cNvPr id="2" name="Picture 0" descr="NIT Logo"/>
          <p:cNvPicPr>
            <a:picLocks noChangeAspect="1"/>
          </p:cNvPicPr>
          <p:nvPr/>
        </p:nvPicPr>
        <p:blipFill>
          <a:blip r:embed="rId3"/>
          <a:stretch>
            <a:fillRect/>
          </a:stretch>
        </p:blipFill>
        <p:spPr>
          <a:xfrm>
            <a:off x="4157980" y="339090"/>
            <a:ext cx="1010285" cy="866775"/>
          </a:xfrm>
          <a:prstGeom prst="rect">
            <a:avLst/>
          </a:prstGeom>
        </p:spPr>
      </p:pic>
      <p:sp>
        <p:nvSpPr>
          <p:cNvPr id="3" name="Text Box 2"/>
          <p:cNvSpPr txBox="1"/>
          <p:nvPr/>
        </p:nvSpPr>
        <p:spPr>
          <a:xfrm>
            <a:off x="1984375" y="3219450"/>
            <a:ext cx="4749165" cy="306705"/>
          </a:xfrm>
          <a:prstGeom prst="rect">
            <a:avLst/>
          </a:prstGeom>
          <a:noFill/>
        </p:spPr>
        <p:txBody>
          <a:bodyPr wrap="square" rtlCol="0">
            <a:spAutoFit/>
          </a:bodyPr>
          <a:lstStyle/>
          <a:p>
            <a:pPr algn="ctr"/>
            <a:r>
              <a:rPr lang="en-US"/>
              <a:t>Submitted to - (Prof) Dr. Ujjwal Kumar Kalla</a:t>
            </a:r>
          </a:p>
        </p:txBody>
      </p:sp>
      <p:sp>
        <p:nvSpPr>
          <p:cNvPr id="4" name="TextBox 3">
            <a:extLst>
              <a:ext uri="{FF2B5EF4-FFF2-40B4-BE49-F238E27FC236}">
                <a16:creationId xmlns:a16="http://schemas.microsoft.com/office/drawing/2014/main" id="{BB912541-B565-A5EB-C6EA-FEE9BC2B07A4}"/>
              </a:ext>
            </a:extLst>
          </p:cNvPr>
          <p:cNvSpPr txBox="1"/>
          <p:nvPr/>
        </p:nvSpPr>
        <p:spPr>
          <a:xfrm>
            <a:off x="827405" y="3651250"/>
            <a:ext cx="7498715" cy="1169551"/>
          </a:xfrm>
          <a:prstGeom prst="rect">
            <a:avLst/>
          </a:prstGeom>
          <a:noFill/>
        </p:spPr>
        <p:txBody>
          <a:bodyPr wrap="square" rtlCol="0">
            <a:spAutoFit/>
          </a:bodyPr>
          <a:lstStyle/>
          <a:p>
            <a:r>
              <a:rPr lang="en-US"/>
              <a:t>Group 16 </a:t>
            </a:r>
            <a:r>
              <a:rPr lang="en-IN"/>
              <a:t>–</a:t>
            </a:r>
          </a:p>
          <a:p>
            <a:r>
              <a:rPr lang="en-IN"/>
              <a:t>Aishwarya </a:t>
            </a:r>
            <a:r>
              <a:rPr lang="en-IN" err="1"/>
              <a:t>Banoth</a:t>
            </a:r>
            <a:r>
              <a:rPr lang="en-IN"/>
              <a:t>                                                                                              (241230005)</a:t>
            </a:r>
          </a:p>
          <a:p>
            <a:r>
              <a:rPr lang="en-IN"/>
              <a:t>Priya </a:t>
            </a:r>
            <a:r>
              <a:rPr lang="en-IN" err="1"/>
              <a:t>Sadulwar</a:t>
            </a:r>
            <a:r>
              <a:rPr lang="en-IN"/>
              <a:t>                                                                                                   (241230045)</a:t>
            </a:r>
          </a:p>
          <a:p>
            <a:r>
              <a:rPr lang="en-IN"/>
              <a:t>Sharvari Kulkarni                                                                                                (241230049)</a:t>
            </a:r>
          </a:p>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1711F5-7AA8-FF38-89E2-25DF27CBEA5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2</a:t>
            </a:fld>
            <a:endParaRPr lang="en-GB"/>
          </a:p>
        </p:txBody>
      </p:sp>
      <p:sp>
        <p:nvSpPr>
          <p:cNvPr id="3" name="Title 2">
            <a:extLst>
              <a:ext uri="{FF2B5EF4-FFF2-40B4-BE49-F238E27FC236}">
                <a16:creationId xmlns:a16="http://schemas.microsoft.com/office/drawing/2014/main" id="{8A484688-C610-A5E9-227D-182C677298BD}"/>
              </a:ext>
            </a:extLst>
          </p:cNvPr>
          <p:cNvSpPr>
            <a:spLocks noGrp="1"/>
          </p:cNvSpPr>
          <p:nvPr>
            <p:ph type="title"/>
          </p:nvPr>
        </p:nvSpPr>
        <p:spPr>
          <a:xfrm>
            <a:off x="1088847" y="681570"/>
            <a:ext cx="7204200" cy="531900"/>
          </a:xfrm>
        </p:spPr>
        <p:txBody>
          <a:bodyPr/>
          <a:lstStyle/>
          <a:p>
            <a:r>
              <a:rPr lang="en-IN"/>
              <a:t>Contents</a:t>
            </a:r>
          </a:p>
        </p:txBody>
      </p:sp>
      <p:sp>
        <p:nvSpPr>
          <p:cNvPr id="5" name="TextBox 4">
            <a:extLst>
              <a:ext uri="{FF2B5EF4-FFF2-40B4-BE49-F238E27FC236}">
                <a16:creationId xmlns:a16="http://schemas.microsoft.com/office/drawing/2014/main" id="{B10F9FD2-7420-6AAF-0B7C-DEB3F37B2122}"/>
              </a:ext>
            </a:extLst>
          </p:cNvPr>
          <p:cNvSpPr txBox="1"/>
          <p:nvPr/>
        </p:nvSpPr>
        <p:spPr>
          <a:xfrm>
            <a:off x="1152293" y="1680117"/>
            <a:ext cx="7148188" cy="231454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a:latin typeface="Mulish" panose="020B0604020202020204" charset="0"/>
              </a:rPr>
              <a:t>Introduction</a:t>
            </a:r>
          </a:p>
          <a:p>
            <a:pPr marL="285750" indent="-285750">
              <a:lnSpc>
                <a:spcPct val="150000"/>
              </a:lnSpc>
              <a:buFont typeface="Arial" panose="020B0604020202020204" pitchFamily="34" charset="0"/>
              <a:buChar char="•"/>
            </a:pPr>
            <a:r>
              <a:rPr lang="en-IN">
                <a:latin typeface="Mulish" panose="020B0604020202020204" charset="0"/>
              </a:rPr>
              <a:t>Objectives</a:t>
            </a:r>
          </a:p>
          <a:p>
            <a:pPr marL="285750" indent="-285750">
              <a:lnSpc>
                <a:spcPct val="150000"/>
              </a:lnSpc>
              <a:buFont typeface="Arial" panose="020B0604020202020204" pitchFamily="34" charset="0"/>
              <a:buChar char="•"/>
            </a:pPr>
            <a:r>
              <a:rPr lang="en-IN">
                <a:latin typeface="Mulish" panose="020B0604020202020204" charset="0"/>
              </a:rPr>
              <a:t>Open Loop Buck Converter</a:t>
            </a:r>
          </a:p>
          <a:p>
            <a:pPr marL="285750" indent="-285750">
              <a:lnSpc>
                <a:spcPct val="150000"/>
              </a:lnSpc>
              <a:buFont typeface="Arial" panose="020B0604020202020204" pitchFamily="34" charset="0"/>
              <a:buChar char="•"/>
            </a:pPr>
            <a:r>
              <a:rPr lang="en-IN">
                <a:latin typeface="Mulish" panose="020B0604020202020204" charset="0"/>
              </a:rPr>
              <a:t>Limitations of Open loop Buck Converter</a:t>
            </a:r>
          </a:p>
          <a:p>
            <a:pPr marL="285750" indent="-285750">
              <a:lnSpc>
                <a:spcPct val="150000"/>
              </a:lnSpc>
              <a:buFont typeface="Arial" panose="020B0604020202020204" pitchFamily="34" charset="0"/>
              <a:buChar char="•"/>
            </a:pPr>
            <a:r>
              <a:rPr lang="en-IN">
                <a:latin typeface="Mulish" panose="020B0604020202020204" charset="0"/>
              </a:rPr>
              <a:t>PI Controlled Closed loop Buck Converter</a:t>
            </a:r>
          </a:p>
          <a:p>
            <a:pPr marL="285750" indent="-285750">
              <a:lnSpc>
                <a:spcPct val="150000"/>
              </a:lnSpc>
              <a:buFont typeface="Arial" panose="020B0604020202020204" pitchFamily="34" charset="0"/>
              <a:buChar char="•"/>
            </a:pPr>
            <a:r>
              <a:rPr lang="en-IN">
                <a:latin typeface="Mulish" panose="020B0604020202020204" charset="0"/>
              </a:rPr>
              <a:t>Applications</a:t>
            </a:r>
          </a:p>
          <a:p>
            <a:pPr marL="285750" indent="-285750">
              <a:lnSpc>
                <a:spcPct val="150000"/>
              </a:lnSpc>
              <a:buFont typeface="Arial" panose="020B0604020202020204" pitchFamily="34" charset="0"/>
              <a:buChar char="•"/>
            </a:pPr>
            <a:r>
              <a:rPr lang="en-IN">
                <a:latin typeface="Mulish" panose="020B0604020202020204" charset="0"/>
              </a:rPr>
              <a:t>Conclusion</a:t>
            </a:r>
          </a:p>
        </p:txBody>
      </p:sp>
    </p:spTree>
    <p:extLst>
      <p:ext uri="{BB962C8B-B14F-4D97-AF65-F5344CB8AC3E}">
        <p14:creationId xmlns:p14="http://schemas.microsoft.com/office/powerpoint/2010/main" val="2281692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2"/>
          <p:cNvSpPr txBox="1">
            <a:spLocks noGrp="1"/>
          </p:cNvSpPr>
          <p:nvPr>
            <p:ph type="title"/>
          </p:nvPr>
        </p:nvSpPr>
        <p:spPr>
          <a:xfrm>
            <a:off x="2411730" y="555625"/>
            <a:ext cx="4383405" cy="84201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3000">
                <a:solidFill>
                  <a:schemeClr val="bg2"/>
                </a:solidFill>
              </a:rPr>
              <a:t>Introduction</a:t>
            </a:r>
          </a:p>
        </p:txBody>
      </p:sp>
      <p:sp>
        <p:nvSpPr>
          <p:cNvPr id="330" name="Google Shape;330;p32"/>
          <p:cNvSpPr txBox="1">
            <a:spLocks noGrp="1"/>
          </p:cNvSpPr>
          <p:nvPr>
            <p:ph type="subTitle" idx="1"/>
          </p:nvPr>
        </p:nvSpPr>
        <p:spPr>
          <a:xfrm>
            <a:off x="645795" y="1491615"/>
            <a:ext cx="7956550" cy="80391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1600"/>
              </a:spcAft>
              <a:buNone/>
            </a:pPr>
            <a:r>
              <a:rPr lang="en-US" altLang="en-US">
                <a:solidFill>
                  <a:schemeClr val="tx2">
                    <a:lumMod val="10000"/>
                  </a:schemeClr>
                </a:solidFill>
              </a:rPr>
              <a:t>A buck converter is a DC-DC converter that steps down </a:t>
            </a:r>
            <a:r>
              <a:rPr lang="en-US" altLang="en-US">
                <a:solidFill>
                  <a:schemeClr val="tx2">
                    <a:lumMod val="10000"/>
                  </a:schemeClr>
                </a:solidFill>
                <a:sym typeface="+mn-ea"/>
              </a:rPr>
              <a:t>higher input DC voltage</a:t>
            </a:r>
            <a:r>
              <a:rPr lang="en-US" altLang="en-US">
                <a:solidFill>
                  <a:schemeClr val="tx2">
                    <a:lumMod val="10000"/>
                  </a:schemeClr>
                </a:solidFill>
              </a:rPr>
              <a:t> from its input to </a:t>
            </a:r>
            <a:r>
              <a:rPr lang="en-US" altLang="en-US">
                <a:solidFill>
                  <a:schemeClr val="tx2">
                    <a:lumMod val="10000"/>
                  </a:schemeClr>
                </a:solidFill>
                <a:sym typeface="+mn-ea"/>
              </a:rPr>
              <a:t>a lower output DC voltage.</a:t>
            </a:r>
            <a:endParaRPr lang="en-US" altLang="en-US">
              <a:solidFill>
                <a:schemeClr val="tx2">
                  <a:lumMod val="10000"/>
                </a:schemeClr>
              </a:solidFill>
            </a:endParaRPr>
          </a:p>
        </p:txBody>
      </p:sp>
      <p:sp>
        <p:nvSpPr>
          <p:cNvPr id="332" name="Google Shape;332;p32"/>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GB"/>
              <a:t>3</a:t>
            </a:fld>
            <a:endParaRPr lang="en-GB"/>
          </a:p>
        </p:txBody>
      </p:sp>
      <p:cxnSp>
        <p:nvCxnSpPr>
          <p:cNvPr id="333" name="Google Shape;333;p32"/>
          <p:cNvCxnSpPr/>
          <p:nvPr/>
        </p:nvCxnSpPr>
        <p:spPr>
          <a:xfrm rot="10800000" flipH="1">
            <a:off x="1600600" y="1282742"/>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p:cNvCxnSpPr/>
          <p:nvPr/>
        </p:nvCxnSpPr>
        <p:spPr>
          <a:xfrm rot="10800000" flipH="1">
            <a:off x="1600600" y="627221"/>
            <a:ext cx="5942700" cy="6600"/>
          </a:xfrm>
          <a:prstGeom prst="straightConnector1">
            <a:avLst/>
          </a:prstGeom>
          <a:noFill/>
          <a:ln w="19050" cap="flat" cmpd="sng">
            <a:solidFill>
              <a:schemeClr val="lt1"/>
            </a:solidFill>
            <a:prstDash val="solid"/>
            <a:round/>
            <a:headEnd type="oval" w="med" len="med"/>
            <a:tailEnd type="oval" w="med" len="med"/>
          </a:ln>
        </p:spPr>
      </p:cxnSp>
      <p:sp>
        <p:nvSpPr>
          <p:cNvPr id="2" name="Title 1"/>
          <p:cNvSpPr>
            <a:spLocks noGrp="1"/>
          </p:cNvSpPr>
          <p:nvPr>
            <p:ph type="title" idx="2"/>
          </p:nvPr>
        </p:nvSpPr>
        <p:spPr>
          <a:xfrm>
            <a:off x="635634" y="2452804"/>
            <a:ext cx="7935595" cy="1724025"/>
          </a:xfrm>
        </p:spPr>
        <p:txBody>
          <a:bodyPr/>
          <a:lstStyle/>
          <a:p>
            <a:pPr algn="l">
              <a:lnSpc>
                <a:spcPct val="150000"/>
              </a:lnSpc>
            </a:pPr>
            <a:r>
              <a:rPr lang="en-US" altLang="en-US" sz="1400" b="0">
                <a:solidFill>
                  <a:schemeClr val="tx2">
                    <a:lumMod val="10000"/>
                  </a:schemeClr>
                </a:solidFill>
                <a:latin typeface="Mulish"/>
                <a:sym typeface="Mulish"/>
              </a:rPr>
              <a:t>It operates using a switch (MOSFET), diode, inductor, and capacitor. This project models a Buck Converter in both open-loop and closed-loop configurations.</a:t>
            </a:r>
            <a:br>
              <a:rPr lang="en-US" altLang="en-US" sz="1400" b="0">
                <a:solidFill>
                  <a:schemeClr val="tx2">
                    <a:lumMod val="10000"/>
                  </a:schemeClr>
                </a:solidFill>
                <a:latin typeface="Mulish"/>
                <a:sym typeface="Mulish"/>
              </a:rPr>
            </a:br>
            <a:r>
              <a:rPr lang="en-US" altLang="en-US" sz="1400" b="0">
                <a:solidFill>
                  <a:schemeClr val="tx2">
                    <a:lumMod val="10000"/>
                  </a:schemeClr>
                </a:solidFill>
                <a:latin typeface="Mulish"/>
                <a:sym typeface="Mulish"/>
              </a:rPr>
              <a:t>In the open-loop, the output voltage is not regulated—it depends only on fixed duty cycle.</a:t>
            </a:r>
            <a:br>
              <a:rPr lang="en-US" altLang="en-US" sz="1400" b="0">
                <a:solidFill>
                  <a:schemeClr val="tx2">
                    <a:lumMod val="10000"/>
                  </a:schemeClr>
                </a:solidFill>
                <a:latin typeface="Mulish"/>
                <a:sym typeface="Mulish"/>
              </a:rPr>
            </a:br>
            <a:r>
              <a:rPr lang="en-US" altLang="en-US" sz="1400" b="0">
                <a:solidFill>
                  <a:schemeClr val="tx2">
                    <a:lumMod val="10000"/>
                  </a:schemeClr>
                </a:solidFill>
                <a:latin typeface="Mulish"/>
                <a:sym typeface="Mulish"/>
              </a:rPr>
              <a:t>In the closed-loop, a PI (Proportional-Integral) controller is used to automatically adjust the duty cycle to keep the output voltage stable, even with load or input changes.</a:t>
            </a:r>
            <a:br>
              <a:rPr lang="en-US" altLang="en-US" sz="1400" b="0">
                <a:solidFill>
                  <a:schemeClr val="tx2">
                    <a:lumMod val="10000"/>
                  </a:schemeClr>
                </a:solidFill>
                <a:latin typeface="Mulish"/>
                <a:sym typeface="Mulish"/>
              </a:rPr>
            </a:br>
            <a:r>
              <a:rPr lang="en-US" altLang="en-US" sz="1400" b="0">
                <a:solidFill>
                  <a:schemeClr val="tx2">
                    <a:lumMod val="10000"/>
                  </a:schemeClr>
                </a:solidFill>
                <a:latin typeface="Mulish"/>
                <a:sym typeface="Mulish"/>
              </a:rPr>
              <a:t>It is widely used in power supplies for electronic devices, battery charging systems, and electric vehicles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4"/>
          <p:cNvSpPr txBox="1">
            <a:spLocks noGrp="1"/>
          </p:cNvSpPr>
          <p:nvPr>
            <p:ph type="subTitle" idx="1"/>
          </p:nvPr>
        </p:nvSpPr>
        <p:spPr>
          <a:xfrm>
            <a:off x="755650" y="555625"/>
            <a:ext cx="7204075" cy="66929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olidFill>
                  <a:schemeClr val="bg2"/>
                </a:solidFill>
                <a:latin typeface="Quicksand" panose="020B0604020202020204" charset="0"/>
              </a:rPr>
              <a:t>Objective</a:t>
            </a:r>
          </a:p>
        </p:txBody>
      </p:sp>
      <p:sp>
        <p:nvSpPr>
          <p:cNvPr id="355" name="Google Shape;355;p3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GB"/>
              <a:t>4</a:t>
            </a:fld>
            <a:endParaRPr lang="en-GB"/>
          </a:p>
        </p:txBody>
      </p:sp>
      <p:cxnSp>
        <p:nvCxnSpPr>
          <p:cNvPr id="356" name="Google Shape;356;p34"/>
          <p:cNvCxnSpPr/>
          <p:nvPr/>
        </p:nvCxnSpPr>
        <p:spPr>
          <a:xfrm rot="10800000" flipH="1">
            <a:off x="2483935" y="1224915"/>
            <a:ext cx="4037700" cy="6600"/>
          </a:xfrm>
          <a:prstGeom prst="straightConnector1">
            <a:avLst/>
          </a:prstGeom>
          <a:noFill/>
          <a:ln w="19050" cap="flat" cmpd="sng">
            <a:solidFill>
              <a:schemeClr val="lt1"/>
            </a:solidFill>
            <a:prstDash val="solid"/>
            <a:round/>
            <a:headEnd type="oval" w="med" len="med"/>
            <a:tailEnd type="oval" w="med" len="med"/>
          </a:ln>
        </p:spPr>
      </p:cxnSp>
      <p:cxnSp>
        <p:nvCxnSpPr>
          <p:cNvPr id="357" name="Google Shape;357;p34"/>
          <p:cNvCxnSpPr/>
          <p:nvPr/>
        </p:nvCxnSpPr>
        <p:spPr>
          <a:xfrm rot="10800000" flipH="1">
            <a:off x="2483935" y="555790"/>
            <a:ext cx="4037700" cy="6600"/>
          </a:xfrm>
          <a:prstGeom prst="straightConnector1">
            <a:avLst/>
          </a:prstGeom>
          <a:noFill/>
          <a:ln w="19050" cap="flat" cmpd="sng">
            <a:solidFill>
              <a:schemeClr val="lt1"/>
            </a:solidFill>
            <a:prstDash val="solid"/>
            <a:round/>
            <a:headEnd type="oval" w="med" len="med"/>
            <a:tailEnd type="oval" w="med" len="med"/>
          </a:ln>
        </p:spPr>
      </p:cxnSp>
      <p:sp>
        <p:nvSpPr>
          <p:cNvPr id="2" name="Text Box 0"/>
          <p:cNvSpPr txBox="1"/>
          <p:nvPr/>
        </p:nvSpPr>
        <p:spPr>
          <a:xfrm>
            <a:off x="170435" y="1308703"/>
            <a:ext cx="8664700" cy="3294172"/>
          </a:xfrm>
          <a:prstGeom prst="rect">
            <a:avLst/>
          </a:prstGeom>
          <a:noFill/>
        </p:spPr>
        <p:txBody>
          <a:bodyPr wrap="square" rtlCol="0" anchor="t">
            <a:spAutoFit/>
          </a:bodyPr>
          <a:lstStyle/>
          <a:p>
            <a:pPr marL="457200" lvl="0" indent="-317500" algn="l" rtl="0">
              <a:lnSpc>
                <a:spcPct val="115000"/>
              </a:lnSpc>
              <a:spcBef>
                <a:spcPts val="0"/>
              </a:spcBef>
              <a:spcAft>
                <a:spcPts val="0"/>
              </a:spcAft>
              <a:buSzPts val="3000"/>
              <a:buFont typeface="Arial" panose="020B0604020202020204" pitchFamily="34" charset="0"/>
              <a:buChar char="•"/>
            </a:pPr>
            <a:r>
              <a:rPr lang="en-US" altLang="en-US">
                <a:solidFill>
                  <a:schemeClr val="tx2">
                    <a:lumMod val="10000"/>
                  </a:schemeClr>
                </a:solidFill>
                <a:latin typeface="Mulish"/>
                <a:ea typeface="Mulish"/>
                <a:cs typeface="Mulish"/>
              </a:rPr>
              <a:t>Study </a:t>
            </a:r>
            <a:r>
              <a:rPr lang="en-US" altLang="en-US">
                <a:solidFill>
                  <a:schemeClr val="tx2">
                    <a:lumMod val="10000"/>
                  </a:schemeClr>
                </a:solidFill>
                <a:latin typeface="Mulish"/>
                <a:ea typeface="Mulish"/>
                <a:cs typeface="Mulish"/>
                <a:sym typeface="+mn-ea"/>
              </a:rPr>
              <a:t>open and closed loop buck converter circuits to understand their operation and control mechanisms</a:t>
            </a:r>
          </a:p>
          <a:p>
            <a:pPr marL="457200" lvl="0" indent="-317500" algn="l" rtl="0">
              <a:lnSpc>
                <a:spcPct val="115000"/>
              </a:lnSpc>
              <a:spcBef>
                <a:spcPts val="0"/>
              </a:spcBef>
              <a:spcAft>
                <a:spcPts val="0"/>
              </a:spcAft>
              <a:buSzPts val="3000"/>
              <a:buFont typeface="Arial" panose="020B0604020202020204" pitchFamily="34" charset="0"/>
              <a:buChar char="•"/>
            </a:pPr>
            <a:endParaRPr lang="en-US" altLang="en-US">
              <a:solidFill>
                <a:schemeClr val="tx2">
                  <a:lumMod val="10000"/>
                </a:schemeClr>
              </a:solidFill>
              <a:latin typeface="Mulish"/>
              <a:ea typeface="Mulish"/>
              <a:cs typeface="Mulish"/>
            </a:endParaRPr>
          </a:p>
          <a:p>
            <a:pPr marL="457200" lvl="0" indent="-317500" algn="l" rtl="0">
              <a:lnSpc>
                <a:spcPct val="115000"/>
              </a:lnSpc>
              <a:spcBef>
                <a:spcPts val="0"/>
              </a:spcBef>
              <a:spcAft>
                <a:spcPts val="0"/>
              </a:spcAft>
              <a:buSzPts val="3000"/>
              <a:buFont typeface="Arial" panose="020B0604020202020204" pitchFamily="34" charset="0"/>
              <a:buChar char="•"/>
            </a:pPr>
            <a:r>
              <a:rPr lang="en-US" altLang="en-US">
                <a:solidFill>
                  <a:schemeClr val="tx2">
                    <a:lumMod val="10000"/>
                  </a:schemeClr>
                </a:solidFill>
                <a:latin typeface="Mulish"/>
                <a:ea typeface="Mulish"/>
                <a:cs typeface="Mulish"/>
                <a:sym typeface="+mn-ea"/>
              </a:rPr>
              <a:t>Design a closed loop buck converter to maintain stable DC output from varying input voltage. </a:t>
            </a:r>
          </a:p>
          <a:p>
            <a:pPr marL="457200" lvl="0" indent="-317500" algn="l" rtl="0">
              <a:lnSpc>
                <a:spcPct val="115000"/>
              </a:lnSpc>
              <a:spcBef>
                <a:spcPts val="0"/>
              </a:spcBef>
              <a:spcAft>
                <a:spcPts val="0"/>
              </a:spcAft>
              <a:buSzPts val="3000"/>
              <a:buFont typeface="Arial" panose="020B0604020202020204" pitchFamily="34" charset="0"/>
              <a:buChar char="•"/>
            </a:pPr>
            <a:endParaRPr lang="en-US" altLang="en-US">
              <a:solidFill>
                <a:schemeClr val="tx2">
                  <a:lumMod val="10000"/>
                </a:schemeClr>
              </a:solidFill>
              <a:latin typeface="Mulish"/>
              <a:ea typeface="Mulish"/>
              <a:cs typeface="Mulish"/>
            </a:endParaRPr>
          </a:p>
          <a:p>
            <a:pPr marL="457200" lvl="0" indent="-317500" algn="l" rtl="0">
              <a:lnSpc>
                <a:spcPct val="115000"/>
              </a:lnSpc>
              <a:spcBef>
                <a:spcPts val="0"/>
              </a:spcBef>
              <a:spcAft>
                <a:spcPts val="0"/>
              </a:spcAft>
              <a:buSzPts val="3000"/>
              <a:buFont typeface="Arial" panose="020B0604020202020204" pitchFamily="34" charset="0"/>
              <a:buChar char="•"/>
            </a:pPr>
            <a:r>
              <a:rPr lang="en-US" altLang="en-US">
                <a:solidFill>
                  <a:schemeClr val="tx2">
                    <a:lumMod val="10000"/>
                  </a:schemeClr>
                </a:solidFill>
                <a:latin typeface="Mulish"/>
                <a:ea typeface="Mulish"/>
                <a:cs typeface="Mulish"/>
                <a:sym typeface="+mn-ea"/>
              </a:rPr>
              <a:t>Ensure Continuous Conduction Mode (CCM) operation for efficient and predictable performance.</a:t>
            </a:r>
          </a:p>
          <a:p>
            <a:pPr marL="457200" lvl="0" indent="-317500" algn="l" rtl="0">
              <a:lnSpc>
                <a:spcPct val="115000"/>
              </a:lnSpc>
              <a:spcBef>
                <a:spcPts val="0"/>
              </a:spcBef>
              <a:spcAft>
                <a:spcPts val="0"/>
              </a:spcAft>
              <a:buSzPts val="3000"/>
              <a:buFont typeface="Arial" panose="020B0604020202020204" pitchFamily="34" charset="0"/>
              <a:buChar char="•"/>
            </a:pPr>
            <a:endParaRPr lang="en-US" altLang="en-US">
              <a:solidFill>
                <a:schemeClr val="tx2">
                  <a:lumMod val="10000"/>
                </a:schemeClr>
              </a:solidFill>
              <a:latin typeface="Mulish"/>
              <a:ea typeface="Mulish"/>
              <a:cs typeface="Mulish"/>
              <a:sym typeface="+mn-ea"/>
            </a:endParaRPr>
          </a:p>
          <a:p>
            <a:pPr marL="457200" lvl="0" indent="-317500" algn="l" rtl="0">
              <a:lnSpc>
                <a:spcPct val="115000"/>
              </a:lnSpc>
              <a:spcBef>
                <a:spcPts val="0"/>
              </a:spcBef>
              <a:spcAft>
                <a:spcPts val="0"/>
              </a:spcAft>
              <a:buSzPts val="3000"/>
              <a:buFont typeface="Arial" panose="020B0604020202020204" pitchFamily="34" charset="0"/>
              <a:buChar char="•"/>
            </a:pPr>
            <a:r>
              <a:rPr lang="en-US" altLang="en-US">
                <a:solidFill>
                  <a:schemeClr val="tx2">
                    <a:lumMod val="10000"/>
                  </a:schemeClr>
                </a:solidFill>
                <a:latin typeface="Mulish"/>
                <a:ea typeface="Mulish"/>
                <a:cs typeface="Mulish"/>
                <a:sym typeface="+mn-ea"/>
              </a:rPr>
              <a:t>Implement a PI controller to regulate output voltage and minimize steady-state error.</a:t>
            </a:r>
          </a:p>
          <a:p>
            <a:pPr marL="457200" lvl="0" indent="-317500" algn="l" rtl="0">
              <a:lnSpc>
                <a:spcPct val="115000"/>
              </a:lnSpc>
              <a:spcBef>
                <a:spcPts val="0"/>
              </a:spcBef>
              <a:spcAft>
                <a:spcPts val="0"/>
              </a:spcAft>
              <a:buSzPts val="3000"/>
              <a:buFont typeface="Arial" panose="020B0604020202020204" pitchFamily="34" charset="0"/>
              <a:buChar char="•"/>
            </a:pPr>
            <a:endParaRPr lang="en-US" altLang="en-US">
              <a:solidFill>
                <a:schemeClr val="tx2">
                  <a:lumMod val="10000"/>
                </a:schemeClr>
              </a:solidFill>
              <a:latin typeface="Mulish"/>
              <a:ea typeface="Mulish"/>
              <a:cs typeface="Mulish"/>
            </a:endParaRPr>
          </a:p>
          <a:p>
            <a:pPr marL="457200" lvl="0" indent="-317500" algn="l" rtl="0">
              <a:lnSpc>
                <a:spcPct val="115000"/>
              </a:lnSpc>
              <a:spcBef>
                <a:spcPts val="0"/>
              </a:spcBef>
              <a:spcAft>
                <a:spcPts val="0"/>
              </a:spcAft>
              <a:buSzPts val="3000"/>
              <a:buFont typeface="Arial" panose="020B0604020202020204" pitchFamily="34" charset="0"/>
              <a:buChar char="•"/>
            </a:pPr>
            <a:r>
              <a:rPr lang="en-US" altLang="en-US">
                <a:solidFill>
                  <a:schemeClr val="tx2">
                    <a:lumMod val="10000"/>
                  </a:schemeClr>
                </a:solidFill>
                <a:latin typeface="Mulish"/>
                <a:ea typeface="Mulish"/>
                <a:cs typeface="Mulish"/>
                <a:sym typeface="+mn-ea"/>
              </a:rPr>
              <a:t>Simulate the system in MATLAB Simulink under varying load and input conditions.</a:t>
            </a:r>
          </a:p>
          <a:p>
            <a:pPr marL="457200" lvl="0" indent="-317500" algn="l" rtl="0">
              <a:lnSpc>
                <a:spcPct val="115000"/>
              </a:lnSpc>
              <a:spcBef>
                <a:spcPts val="0"/>
              </a:spcBef>
              <a:spcAft>
                <a:spcPts val="0"/>
              </a:spcAft>
              <a:buSzPts val="3000"/>
              <a:buFont typeface="Arial" panose="020B0604020202020204" pitchFamily="34" charset="0"/>
              <a:buChar char="•"/>
            </a:pPr>
            <a:endParaRPr lang="en-US" altLang="en-US">
              <a:solidFill>
                <a:schemeClr val="tx2">
                  <a:lumMod val="10000"/>
                </a:schemeClr>
              </a:solidFill>
              <a:latin typeface="Mulish"/>
              <a:ea typeface="Mulish"/>
              <a:cs typeface="Mulish"/>
            </a:endParaRPr>
          </a:p>
          <a:p>
            <a:pPr marL="457200" lvl="0" indent="-317500" algn="l" rtl="0">
              <a:lnSpc>
                <a:spcPct val="115000"/>
              </a:lnSpc>
              <a:spcBef>
                <a:spcPts val="0"/>
              </a:spcBef>
              <a:spcAft>
                <a:spcPts val="0"/>
              </a:spcAft>
              <a:buSzPts val="3000"/>
              <a:buFont typeface="Arial" panose="020B0604020202020204" pitchFamily="34" charset="0"/>
              <a:buChar char="•"/>
            </a:pPr>
            <a:r>
              <a:rPr lang="en-US" altLang="en-US">
                <a:solidFill>
                  <a:schemeClr val="tx2">
                    <a:lumMod val="10000"/>
                  </a:schemeClr>
                </a:solidFill>
                <a:latin typeface="Mulish"/>
                <a:ea typeface="Mulish"/>
                <a:cs typeface="Mulish"/>
                <a:sym typeface="+mn-ea"/>
              </a:rPr>
              <a:t>Gain practical experience in digital control, embedded programming, and PI-based power electronics systems</a:t>
            </a:r>
            <a:r>
              <a:rPr lang="en-US" altLang="en-US" sz="1200">
                <a:solidFill>
                  <a:schemeClr val="dk1"/>
                </a:solidFill>
                <a:latin typeface="Mulish"/>
                <a:ea typeface="Mulish"/>
                <a:cs typeface="Mulish"/>
                <a:sym typeface="+mn-ea"/>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1719" y="545652"/>
            <a:ext cx="7077686" cy="531900"/>
          </a:xfrm>
        </p:spPr>
        <p:txBody>
          <a:bodyPr/>
          <a:lstStyle/>
          <a:p>
            <a:r>
              <a:rPr lang="en-US"/>
              <a:t>Open Loop Buck Converter</a:t>
            </a:r>
          </a:p>
        </p:txBody>
      </p:sp>
      <p:sp>
        <p:nvSpPr>
          <p:cNvPr id="3" name="Subtitle 2"/>
          <p:cNvSpPr>
            <a:spLocks noGrp="1"/>
          </p:cNvSpPr>
          <p:nvPr>
            <p:ph type="subTitle" idx="1"/>
          </p:nvPr>
        </p:nvSpPr>
        <p:spPr>
          <a:xfrm>
            <a:off x="490655" y="1962785"/>
            <a:ext cx="7683066" cy="230288"/>
          </a:xfrm>
        </p:spPr>
        <p:txBody>
          <a:bodyPr/>
          <a:lstStyle/>
          <a:p>
            <a:endParaRPr lang="en-US" altLang="en-US" sz="1200"/>
          </a:p>
          <a:p>
            <a:endParaRPr lang="en-US" altLang="en-US" sz="1200"/>
          </a:p>
          <a:p>
            <a:endParaRPr lang="en-US" altLang="en-US" sz="1200"/>
          </a:p>
          <a:p>
            <a:endParaRPr lang="en-US" altLang="en-US" sz="1200"/>
          </a:p>
          <a:p>
            <a:endParaRPr lang="en-US" altLang="en-US" sz="1200"/>
          </a:p>
          <a:p>
            <a:endParaRPr lang="en-US" altLang="en-US" sz="1200"/>
          </a:p>
          <a:p>
            <a:endParaRPr lang="en-US" altLang="en-US" sz="1200"/>
          </a:p>
          <a:p>
            <a:endParaRPr lang="en-US" altLang="en-US" sz="1200"/>
          </a:p>
          <a:p>
            <a:pPr algn="l"/>
            <a:r>
              <a:rPr lang="en-US" altLang="en-US" sz="1200"/>
              <a:t>        A buck converter is a type of DC-DC converter that steps down a higher input voltage (Vin) to a lower output voltage (</a:t>
            </a:r>
            <a:r>
              <a:rPr lang="en-US" altLang="en-US" sz="1200" err="1"/>
              <a:t>Vout</a:t>
            </a:r>
            <a:r>
              <a:rPr lang="en-US" altLang="en-US" sz="1200"/>
              <a:t>) using a switching mechanism. In the open-loop configuration, the converter operates without any feedback control.</a:t>
            </a:r>
          </a:p>
          <a:p>
            <a:pPr algn="l"/>
            <a:r>
              <a:rPr lang="en-US" altLang="en-US" sz="1200"/>
              <a:t> </a:t>
            </a:r>
          </a:p>
          <a:p>
            <a:pPr marL="139700" indent="0" algn="l">
              <a:buFont typeface="Arial" panose="020B0604020202020204" pitchFamily="34" charset="0"/>
            </a:pPr>
            <a:r>
              <a:rPr lang="en-US" altLang="en-US" sz="1200" b="1"/>
              <a:t>Mode 1 ( Switch on )</a:t>
            </a:r>
          </a:p>
          <a:p>
            <a:pPr algn="l"/>
            <a:r>
              <a:rPr lang="en-US" altLang="en-US" sz="1200"/>
              <a:t>        During this period, the input voltage is applied across the inductor, causing the inductor current to increase linearly as it stores energy. The diode remains reverse biased, and the load receives power directly from both the input and the inductor.</a:t>
            </a:r>
          </a:p>
          <a:p>
            <a:pPr algn="l"/>
            <a:endParaRPr lang="en-US" altLang="en-US" sz="1200"/>
          </a:p>
          <a:p>
            <a:pPr algn="l"/>
            <a:r>
              <a:rPr lang="en-US" altLang="en-US" sz="1200" b="1"/>
              <a:t>Mode 2 (Switch off )</a:t>
            </a:r>
          </a:p>
          <a:p>
            <a:pPr algn="l"/>
            <a:r>
              <a:rPr lang="en-US" altLang="en-US" sz="1200"/>
              <a:t>        The inductor resists sudden changes in current, begins to discharge its stored energy. The diode becomes forward biased, allowing current to continue flowing to the load. The inductor current now decreases linearly, maintaining continuous output. </a:t>
            </a:r>
          </a:p>
          <a:p>
            <a:pPr algn="l"/>
            <a:endParaRPr lang="en-US" altLang="en-US" sz="1200"/>
          </a:p>
          <a:p>
            <a:pPr algn="l"/>
            <a:r>
              <a:rPr lang="en-US" altLang="en-US" sz="1200"/>
              <a:t>        These two modes repeat every cycle, and their duration is controlled by the duty cycle, which ultimately determines the average output voltage.</a:t>
            </a:r>
            <a:endParaRPr lang="en-US" altLang="en-US"/>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a:t>5</a:t>
            </a:fld>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466" y="505236"/>
            <a:ext cx="7204200" cy="494705"/>
          </a:xfrm>
        </p:spPr>
        <p:txBody>
          <a:bodyPr/>
          <a:lstStyle/>
          <a:p>
            <a:r>
              <a:rPr lang="en-US" sz="2400"/>
              <a:t>Circuit Diagram Of Open Loop Buck Converter</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a:t>6</a:t>
            </a:fld>
            <a:endParaRPr lang="en-GB"/>
          </a:p>
        </p:txBody>
      </p:sp>
      <p:sp>
        <p:nvSpPr>
          <p:cNvPr id="10" name="TextBox 9">
            <a:extLst>
              <a:ext uri="{FF2B5EF4-FFF2-40B4-BE49-F238E27FC236}">
                <a16:creationId xmlns:a16="http://schemas.microsoft.com/office/drawing/2014/main" id="{D96BF614-6953-F15B-D92E-7DFE90A2C191}"/>
              </a:ext>
            </a:extLst>
          </p:cNvPr>
          <p:cNvSpPr txBox="1"/>
          <p:nvPr/>
        </p:nvSpPr>
        <p:spPr>
          <a:xfrm>
            <a:off x="542693" y="4330487"/>
            <a:ext cx="8437756" cy="307777"/>
          </a:xfrm>
          <a:prstGeom prst="rect">
            <a:avLst/>
          </a:prstGeom>
          <a:noFill/>
        </p:spPr>
        <p:txBody>
          <a:bodyPr wrap="square" rtlCol="0">
            <a:spAutoFit/>
          </a:bodyPr>
          <a:lstStyle/>
          <a:p>
            <a:r>
              <a:rPr lang="en-IN">
                <a:latin typeface="Mulish" panose="020B0604020202020204" charset="0"/>
              </a:rPr>
              <a:t>This is the model of open loop buck converter that we have designed using MATLAB Simulink</a:t>
            </a:r>
          </a:p>
        </p:txBody>
      </p:sp>
      <p:pic>
        <p:nvPicPr>
          <p:cNvPr id="12" name="Picture 11">
            <a:extLst>
              <a:ext uri="{FF2B5EF4-FFF2-40B4-BE49-F238E27FC236}">
                <a16:creationId xmlns:a16="http://schemas.microsoft.com/office/drawing/2014/main" id="{68B30ADE-B64D-24E4-2183-ED81503A045D}"/>
              </a:ext>
            </a:extLst>
          </p:cNvPr>
          <p:cNvPicPr>
            <a:picLocks noChangeAspect="1"/>
          </p:cNvPicPr>
          <p:nvPr/>
        </p:nvPicPr>
        <p:blipFill>
          <a:blip r:embed="rId3"/>
          <a:stretch>
            <a:fillRect/>
          </a:stretch>
        </p:blipFill>
        <p:spPr>
          <a:xfrm>
            <a:off x="163551" y="999941"/>
            <a:ext cx="8816898" cy="33305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F13429-CDDB-B041-C381-65D376ECF9C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7</a:t>
            </a:fld>
            <a:endParaRPr lang="en-GB"/>
          </a:p>
        </p:txBody>
      </p:sp>
      <p:sp>
        <p:nvSpPr>
          <p:cNvPr id="3" name="Title 2">
            <a:extLst>
              <a:ext uri="{FF2B5EF4-FFF2-40B4-BE49-F238E27FC236}">
                <a16:creationId xmlns:a16="http://schemas.microsoft.com/office/drawing/2014/main" id="{1EF8BCC7-5F64-E61D-D64A-27B64EB53D98}"/>
              </a:ext>
            </a:extLst>
          </p:cNvPr>
          <p:cNvSpPr>
            <a:spLocks noGrp="1"/>
          </p:cNvSpPr>
          <p:nvPr>
            <p:ph type="title"/>
          </p:nvPr>
        </p:nvSpPr>
        <p:spPr>
          <a:xfrm>
            <a:off x="895558" y="592361"/>
            <a:ext cx="7204200" cy="531900"/>
          </a:xfrm>
        </p:spPr>
        <p:txBody>
          <a:bodyPr/>
          <a:lstStyle/>
          <a:p>
            <a:r>
              <a:rPr lang="en-US">
                <a:latin typeface="Calibri" panose="020F0502020204030204" pitchFamily="34" charset="0"/>
                <a:ea typeface="Calibri" panose="020F0502020204030204" pitchFamily="34" charset="0"/>
                <a:cs typeface="Calibri" panose="020F0502020204030204" pitchFamily="34" charset="0"/>
              </a:rPr>
              <a:t>Waveform</a:t>
            </a:r>
            <a:endParaRPr lang="en-IN">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0096ABB1-66EA-6AE4-D692-8494D6C01F74}"/>
              </a:ext>
            </a:extLst>
          </p:cNvPr>
          <p:cNvPicPr>
            <a:picLocks noChangeAspect="1"/>
          </p:cNvPicPr>
          <p:nvPr/>
        </p:nvPicPr>
        <p:blipFill>
          <a:blip r:embed="rId2"/>
          <a:srcRect r="22927"/>
          <a:stretch/>
        </p:blipFill>
        <p:spPr>
          <a:xfrm>
            <a:off x="323129" y="1311637"/>
            <a:ext cx="5252481" cy="3081944"/>
          </a:xfrm>
          <a:prstGeom prst="rect">
            <a:avLst/>
          </a:prstGeom>
        </p:spPr>
      </p:pic>
      <p:sp>
        <p:nvSpPr>
          <p:cNvPr id="7" name="TextBox 6">
            <a:extLst>
              <a:ext uri="{FF2B5EF4-FFF2-40B4-BE49-F238E27FC236}">
                <a16:creationId xmlns:a16="http://schemas.microsoft.com/office/drawing/2014/main" id="{8D929014-C0D5-54C6-334B-674B1A0B415B}"/>
              </a:ext>
            </a:extLst>
          </p:cNvPr>
          <p:cNvSpPr txBox="1"/>
          <p:nvPr/>
        </p:nvSpPr>
        <p:spPr>
          <a:xfrm>
            <a:off x="2059257" y="4412639"/>
            <a:ext cx="2341757" cy="276999"/>
          </a:xfrm>
          <a:prstGeom prst="rect">
            <a:avLst/>
          </a:prstGeom>
          <a:noFill/>
        </p:spPr>
        <p:txBody>
          <a:bodyPr wrap="square" rtlCol="0">
            <a:spAutoFit/>
          </a:bodyPr>
          <a:lstStyle/>
          <a:p>
            <a:r>
              <a:rPr lang="en-US" sz="1200"/>
              <a:t>Output voltage v/s time</a:t>
            </a:r>
            <a:endParaRPr lang="en-IN" sz="1200"/>
          </a:p>
        </p:txBody>
      </p:sp>
      <p:graphicFrame>
        <p:nvGraphicFramePr>
          <p:cNvPr id="8" name="Table 7">
            <a:extLst>
              <a:ext uri="{FF2B5EF4-FFF2-40B4-BE49-F238E27FC236}">
                <a16:creationId xmlns:a16="http://schemas.microsoft.com/office/drawing/2014/main" id="{8914D236-F5CE-EAA7-B4B8-F93D41047707}"/>
              </a:ext>
            </a:extLst>
          </p:cNvPr>
          <p:cNvGraphicFramePr>
            <a:graphicFrameLocks noGrp="1"/>
          </p:cNvGraphicFramePr>
          <p:nvPr>
            <p:extLst>
              <p:ext uri="{D42A27DB-BD31-4B8C-83A1-F6EECF244321}">
                <p14:modId xmlns:p14="http://schemas.microsoft.com/office/powerpoint/2010/main" val="1593559106"/>
              </p:ext>
            </p:extLst>
          </p:nvPr>
        </p:nvGraphicFramePr>
        <p:xfrm>
          <a:off x="5746595" y="1311637"/>
          <a:ext cx="2973658" cy="3000168"/>
        </p:xfrm>
        <a:graphic>
          <a:graphicData uri="http://schemas.openxmlformats.org/drawingml/2006/table">
            <a:tbl>
              <a:tblPr firstRow="1" bandRow="1">
                <a:tableStyleId>{5C22544A-7EE6-4342-B048-85BDC9FD1C3A}</a:tableStyleId>
              </a:tblPr>
              <a:tblGrid>
                <a:gridCol w="2036956">
                  <a:extLst>
                    <a:ext uri="{9D8B030D-6E8A-4147-A177-3AD203B41FA5}">
                      <a16:colId xmlns:a16="http://schemas.microsoft.com/office/drawing/2014/main" val="2436816714"/>
                    </a:ext>
                  </a:extLst>
                </a:gridCol>
                <a:gridCol w="936702">
                  <a:extLst>
                    <a:ext uri="{9D8B030D-6E8A-4147-A177-3AD203B41FA5}">
                      <a16:colId xmlns:a16="http://schemas.microsoft.com/office/drawing/2014/main" val="1156534706"/>
                    </a:ext>
                  </a:extLst>
                </a:gridCol>
              </a:tblGrid>
              <a:tr h="375021">
                <a:tc>
                  <a:txBody>
                    <a:bodyPr/>
                    <a:lstStyle/>
                    <a:p>
                      <a:r>
                        <a:rPr lang="en-US">
                          <a:solidFill>
                            <a:schemeClr val="bg2"/>
                          </a:solidFill>
                        </a:rPr>
                        <a:t>Parameters</a:t>
                      </a:r>
                      <a:endParaRPr lang="en-IN">
                        <a:solidFill>
                          <a:schemeClr val="bg2"/>
                        </a:solidFill>
                      </a:endParaRPr>
                    </a:p>
                  </a:txBody>
                  <a:tcPr/>
                </a:tc>
                <a:tc>
                  <a:txBody>
                    <a:bodyPr/>
                    <a:lstStyle/>
                    <a:p>
                      <a:r>
                        <a:rPr lang="en-US">
                          <a:solidFill>
                            <a:schemeClr val="bg2"/>
                          </a:solidFill>
                        </a:rPr>
                        <a:t>Value</a:t>
                      </a:r>
                      <a:endParaRPr lang="en-IN">
                        <a:solidFill>
                          <a:schemeClr val="bg2"/>
                        </a:solidFill>
                      </a:endParaRPr>
                    </a:p>
                  </a:txBody>
                  <a:tcPr/>
                </a:tc>
                <a:extLst>
                  <a:ext uri="{0D108BD9-81ED-4DB2-BD59-A6C34878D82A}">
                    <a16:rowId xmlns:a16="http://schemas.microsoft.com/office/drawing/2014/main" val="2409942897"/>
                  </a:ext>
                </a:extLst>
              </a:tr>
              <a:tr h="375021">
                <a:tc>
                  <a:txBody>
                    <a:bodyPr/>
                    <a:lstStyle/>
                    <a:p>
                      <a:r>
                        <a:rPr lang="en-US"/>
                        <a:t>Input Voltage(Vin)</a:t>
                      </a:r>
                      <a:endParaRPr lang="en-IN"/>
                    </a:p>
                  </a:txBody>
                  <a:tcPr/>
                </a:tc>
                <a:tc>
                  <a:txBody>
                    <a:bodyPr/>
                    <a:lstStyle/>
                    <a:p>
                      <a:r>
                        <a:rPr lang="en-US"/>
                        <a:t>12 V</a:t>
                      </a:r>
                      <a:endParaRPr lang="en-IN"/>
                    </a:p>
                  </a:txBody>
                  <a:tcPr/>
                </a:tc>
                <a:extLst>
                  <a:ext uri="{0D108BD9-81ED-4DB2-BD59-A6C34878D82A}">
                    <a16:rowId xmlns:a16="http://schemas.microsoft.com/office/drawing/2014/main" val="3471374957"/>
                  </a:ext>
                </a:extLst>
              </a:tr>
              <a:tr h="375021">
                <a:tc>
                  <a:txBody>
                    <a:bodyPr/>
                    <a:lstStyle/>
                    <a:p>
                      <a:r>
                        <a:rPr lang="en-US"/>
                        <a:t>Output Voltage(</a:t>
                      </a:r>
                      <a:r>
                        <a:rPr lang="en-US" err="1"/>
                        <a:t>Vout</a:t>
                      </a:r>
                      <a:r>
                        <a:rPr lang="en-US"/>
                        <a:t>)</a:t>
                      </a:r>
                      <a:endParaRPr lang="en-IN"/>
                    </a:p>
                  </a:txBody>
                  <a:tcPr/>
                </a:tc>
                <a:tc>
                  <a:txBody>
                    <a:bodyPr/>
                    <a:lstStyle/>
                    <a:p>
                      <a:r>
                        <a:rPr lang="en-US"/>
                        <a:t>5 V</a:t>
                      </a:r>
                      <a:endParaRPr lang="en-IN"/>
                    </a:p>
                  </a:txBody>
                  <a:tcPr/>
                </a:tc>
                <a:extLst>
                  <a:ext uri="{0D108BD9-81ED-4DB2-BD59-A6C34878D82A}">
                    <a16:rowId xmlns:a16="http://schemas.microsoft.com/office/drawing/2014/main" val="1158534985"/>
                  </a:ext>
                </a:extLst>
              </a:tr>
              <a:tr h="375021">
                <a:tc>
                  <a:txBody>
                    <a:bodyPr/>
                    <a:lstStyle/>
                    <a:p>
                      <a:r>
                        <a:rPr lang="en-US"/>
                        <a:t>Resistance(R)</a:t>
                      </a:r>
                      <a:endParaRPr lang="en-IN"/>
                    </a:p>
                  </a:txBody>
                  <a:tcPr/>
                </a:tc>
                <a:tc>
                  <a:txBody>
                    <a:bodyPr/>
                    <a:lstStyle/>
                    <a:p>
                      <a:r>
                        <a:rPr lang="en-US"/>
                        <a:t>10 </a:t>
                      </a:r>
                      <a:r>
                        <a:rPr lang="en-IN" sz="1400" b="0" i="0" u="none" strike="noStrike" cap="none">
                          <a:solidFill>
                            <a:schemeClr val="dk1"/>
                          </a:solidFill>
                          <a:effectLst/>
                          <a:latin typeface="+mn-lt"/>
                          <a:ea typeface="+mn-ea"/>
                          <a:cs typeface="+mn-cs"/>
                          <a:sym typeface="Arial" panose="020B0604020202020204"/>
                        </a:rPr>
                        <a:t>Ω</a:t>
                      </a:r>
                      <a:endParaRPr lang="en-IN"/>
                    </a:p>
                  </a:txBody>
                  <a:tcPr/>
                </a:tc>
                <a:extLst>
                  <a:ext uri="{0D108BD9-81ED-4DB2-BD59-A6C34878D82A}">
                    <a16:rowId xmlns:a16="http://schemas.microsoft.com/office/drawing/2014/main" val="1987783641"/>
                  </a:ext>
                </a:extLst>
              </a:tr>
              <a:tr h="375021">
                <a:tc>
                  <a:txBody>
                    <a:bodyPr/>
                    <a:lstStyle/>
                    <a:p>
                      <a:r>
                        <a:rPr lang="en-US"/>
                        <a:t>Frequency</a:t>
                      </a:r>
                      <a:endParaRPr lang="en-IN"/>
                    </a:p>
                  </a:txBody>
                  <a:tcPr/>
                </a:tc>
                <a:tc>
                  <a:txBody>
                    <a:bodyPr/>
                    <a:lstStyle/>
                    <a:p>
                      <a:r>
                        <a:rPr lang="en-US"/>
                        <a:t>25 kHz</a:t>
                      </a:r>
                      <a:endParaRPr lang="en-IN"/>
                    </a:p>
                  </a:txBody>
                  <a:tcPr/>
                </a:tc>
                <a:extLst>
                  <a:ext uri="{0D108BD9-81ED-4DB2-BD59-A6C34878D82A}">
                    <a16:rowId xmlns:a16="http://schemas.microsoft.com/office/drawing/2014/main" val="212930149"/>
                  </a:ext>
                </a:extLst>
              </a:tr>
              <a:tr h="375021">
                <a:tc>
                  <a:txBody>
                    <a:bodyPr/>
                    <a:lstStyle/>
                    <a:p>
                      <a:r>
                        <a:rPr lang="en-US"/>
                        <a:t>Duty cycle</a:t>
                      </a:r>
                      <a:endParaRPr lang="en-IN"/>
                    </a:p>
                  </a:txBody>
                  <a:tcPr/>
                </a:tc>
                <a:tc>
                  <a:txBody>
                    <a:bodyPr/>
                    <a:lstStyle/>
                    <a:p>
                      <a:r>
                        <a:rPr lang="en-US"/>
                        <a:t>0.4</a:t>
                      </a:r>
                      <a:endParaRPr lang="en-IN"/>
                    </a:p>
                  </a:txBody>
                  <a:tcPr/>
                </a:tc>
                <a:extLst>
                  <a:ext uri="{0D108BD9-81ED-4DB2-BD59-A6C34878D82A}">
                    <a16:rowId xmlns:a16="http://schemas.microsoft.com/office/drawing/2014/main" val="3809238161"/>
                  </a:ext>
                </a:extLst>
              </a:tr>
              <a:tr h="375021">
                <a:tc>
                  <a:txBody>
                    <a:bodyPr/>
                    <a:lstStyle/>
                    <a:p>
                      <a:r>
                        <a:rPr lang="en-US"/>
                        <a:t>Inductance(L)</a:t>
                      </a:r>
                      <a:endParaRPr lang="en-IN"/>
                    </a:p>
                  </a:txBody>
                  <a:tcPr/>
                </a:tc>
                <a:tc>
                  <a:txBody>
                    <a:bodyPr/>
                    <a:lstStyle/>
                    <a:p>
                      <a:r>
                        <a:rPr lang="en-US"/>
                        <a:t>100 </a:t>
                      </a:r>
                      <a:r>
                        <a:rPr lang="en-IN" sz="1400" b="0" i="0" u="none" strike="noStrike" cap="none">
                          <a:solidFill>
                            <a:schemeClr val="dk1"/>
                          </a:solidFill>
                          <a:effectLst/>
                          <a:latin typeface="+mn-lt"/>
                          <a:ea typeface="+mn-ea"/>
                          <a:cs typeface="+mn-cs"/>
                          <a:sym typeface="Arial" panose="020B0604020202020204"/>
                        </a:rPr>
                        <a:t>µH</a:t>
                      </a:r>
                      <a:endParaRPr lang="en-IN"/>
                    </a:p>
                  </a:txBody>
                  <a:tcPr/>
                </a:tc>
                <a:extLst>
                  <a:ext uri="{0D108BD9-81ED-4DB2-BD59-A6C34878D82A}">
                    <a16:rowId xmlns:a16="http://schemas.microsoft.com/office/drawing/2014/main" val="1753851679"/>
                  </a:ext>
                </a:extLst>
              </a:tr>
              <a:tr h="375021">
                <a:tc>
                  <a:txBody>
                    <a:bodyPr/>
                    <a:lstStyle/>
                    <a:p>
                      <a:r>
                        <a:rPr lang="en-US"/>
                        <a:t>Capacitance(C)</a:t>
                      </a:r>
                      <a:endParaRPr lang="en-IN"/>
                    </a:p>
                  </a:txBody>
                  <a:tcPr/>
                </a:tc>
                <a:tc>
                  <a:txBody>
                    <a:bodyPr/>
                    <a:lstStyle/>
                    <a:p>
                      <a:r>
                        <a:rPr lang="en-US"/>
                        <a:t>1000 </a:t>
                      </a:r>
                      <a:r>
                        <a:rPr lang="en-IN" sz="1400" b="0" i="0" u="none" strike="noStrike" cap="none">
                          <a:solidFill>
                            <a:schemeClr val="dk1"/>
                          </a:solidFill>
                          <a:effectLst/>
                          <a:latin typeface="+mn-lt"/>
                          <a:ea typeface="+mn-ea"/>
                          <a:cs typeface="+mn-cs"/>
                          <a:sym typeface="Arial" panose="020B0604020202020204"/>
                        </a:rPr>
                        <a:t>µF</a:t>
                      </a:r>
                      <a:endParaRPr lang="en-IN"/>
                    </a:p>
                  </a:txBody>
                  <a:tcPr/>
                </a:tc>
                <a:extLst>
                  <a:ext uri="{0D108BD9-81ED-4DB2-BD59-A6C34878D82A}">
                    <a16:rowId xmlns:a16="http://schemas.microsoft.com/office/drawing/2014/main" val="2118241884"/>
                  </a:ext>
                </a:extLst>
              </a:tr>
            </a:tbl>
          </a:graphicData>
        </a:graphic>
      </p:graphicFrame>
    </p:spTree>
    <p:extLst>
      <p:ext uri="{BB962C8B-B14F-4D97-AF65-F5344CB8AC3E}">
        <p14:creationId xmlns:p14="http://schemas.microsoft.com/office/powerpoint/2010/main" val="3341281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68E6AB-B2A6-23A0-08E1-73B8044B163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8</a:t>
            </a:fld>
            <a:endParaRPr lang="en-GB"/>
          </a:p>
        </p:txBody>
      </p:sp>
      <p:sp>
        <p:nvSpPr>
          <p:cNvPr id="3" name="Title 2">
            <a:extLst>
              <a:ext uri="{FF2B5EF4-FFF2-40B4-BE49-F238E27FC236}">
                <a16:creationId xmlns:a16="http://schemas.microsoft.com/office/drawing/2014/main" id="{6EE98646-43C7-B087-7571-2DA6DE1E5003}"/>
              </a:ext>
            </a:extLst>
          </p:cNvPr>
          <p:cNvSpPr>
            <a:spLocks noGrp="1"/>
          </p:cNvSpPr>
          <p:nvPr>
            <p:ph type="title"/>
          </p:nvPr>
        </p:nvSpPr>
        <p:spPr>
          <a:xfrm>
            <a:off x="572429" y="584927"/>
            <a:ext cx="7895063" cy="531900"/>
          </a:xfrm>
        </p:spPr>
        <p:txBody>
          <a:bodyPr/>
          <a:lstStyle/>
          <a:p>
            <a:r>
              <a:rPr lang="en-US"/>
              <a:t>Limitations Of Open Loop Buck Converter</a:t>
            </a:r>
            <a:endParaRPr lang="en-IN"/>
          </a:p>
        </p:txBody>
      </p:sp>
      <p:sp>
        <p:nvSpPr>
          <p:cNvPr id="5" name="TextBox 4">
            <a:extLst>
              <a:ext uri="{FF2B5EF4-FFF2-40B4-BE49-F238E27FC236}">
                <a16:creationId xmlns:a16="http://schemas.microsoft.com/office/drawing/2014/main" id="{C13C89A0-236C-82C7-050B-BCC0D243F92B}"/>
              </a:ext>
            </a:extLst>
          </p:cNvPr>
          <p:cNvSpPr txBox="1"/>
          <p:nvPr/>
        </p:nvSpPr>
        <p:spPr>
          <a:xfrm>
            <a:off x="639337" y="1449659"/>
            <a:ext cx="8266770" cy="2462213"/>
          </a:xfrm>
          <a:prstGeom prst="rect">
            <a:avLst/>
          </a:prstGeom>
          <a:noFill/>
        </p:spPr>
        <p:txBody>
          <a:bodyPr wrap="square" rtlCol="0">
            <a:spAutoFit/>
          </a:bodyPr>
          <a:lstStyle/>
          <a:p>
            <a:pPr marL="342900" indent="-342900">
              <a:buFont typeface="+mj-lt"/>
              <a:buAutoNum type="arabicPeriod"/>
            </a:pPr>
            <a:r>
              <a:rPr lang="en-IN">
                <a:latin typeface="Mulish" panose="020B0604020202020204" charset="0"/>
              </a:rPr>
              <a:t>No feedback - cannot correct output voltage deviations</a:t>
            </a:r>
          </a:p>
          <a:p>
            <a:pPr marL="342900" indent="-342900">
              <a:buFont typeface="+mj-lt"/>
              <a:buAutoNum type="arabicPeriod"/>
            </a:pPr>
            <a:endParaRPr lang="en-IN">
              <a:latin typeface="Mulish" panose="020B0604020202020204" charset="0"/>
            </a:endParaRPr>
          </a:p>
          <a:p>
            <a:pPr marL="342900" indent="-342900">
              <a:buFont typeface="+mj-lt"/>
              <a:buAutoNum type="arabicPeriod"/>
            </a:pPr>
            <a:r>
              <a:rPr lang="en-IN">
                <a:latin typeface="Mulish" panose="020B0604020202020204" charset="0"/>
              </a:rPr>
              <a:t>Poor voltage regulation under load or input changes</a:t>
            </a:r>
          </a:p>
          <a:p>
            <a:pPr marL="342900" indent="-342900">
              <a:buFont typeface="+mj-lt"/>
              <a:buAutoNum type="arabicPeriod"/>
            </a:pPr>
            <a:endParaRPr lang="en-IN">
              <a:latin typeface="Mulish" panose="020B0604020202020204" charset="0"/>
            </a:endParaRPr>
          </a:p>
          <a:p>
            <a:pPr marL="342900" indent="-342900">
              <a:buFont typeface="+mj-lt"/>
              <a:buAutoNum type="arabicPeriod"/>
            </a:pPr>
            <a:r>
              <a:rPr lang="en-IN">
                <a:latin typeface="Mulish" panose="020B0604020202020204" charset="0"/>
              </a:rPr>
              <a:t>Fixed duty cycle – lacks adaptability</a:t>
            </a:r>
          </a:p>
          <a:p>
            <a:pPr marL="342900" indent="-342900">
              <a:buFont typeface="+mj-lt"/>
              <a:buAutoNum type="arabicPeriod"/>
            </a:pPr>
            <a:endParaRPr lang="en-IN">
              <a:latin typeface="Mulish" panose="020B0604020202020204" charset="0"/>
            </a:endParaRPr>
          </a:p>
          <a:p>
            <a:pPr marL="342900" indent="-342900">
              <a:buFont typeface="+mj-lt"/>
              <a:buAutoNum type="arabicPeriod"/>
            </a:pPr>
            <a:r>
              <a:rPr lang="en-IN">
                <a:latin typeface="Mulish" panose="020B0604020202020204" charset="0"/>
              </a:rPr>
              <a:t>Sensitive to component tolerances</a:t>
            </a:r>
          </a:p>
          <a:p>
            <a:pPr marL="342900" indent="-342900">
              <a:buFont typeface="+mj-lt"/>
              <a:buAutoNum type="arabicPeriod"/>
            </a:pPr>
            <a:endParaRPr lang="en-IN">
              <a:latin typeface="Mulish" panose="020B0604020202020204" charset="0"/>
            </a:endParaRPr>
          </a:p>
          <a:p>
            <a:pPr marL="342900" indent="-342900">
              <a:buFont typeface="+mj-lt"/>
              <a:buAutoNum type="arabicPeriod"/>
            </a:pPr>
            <a:r>
              <a:rPr lang="en-IN">
                <a:latin typeface="Mulish" panose="020B0604020202020204" charset="0"/>
              </a:rPr>
              <a:t>Inaccurate output for varying load conditions</a:t>
            </a:r>
          </a:p>
          <a:p>
            <a:pPr marL="342900" indent="-342900">
              <a:buFont typeface="+mj-lt"/>
              <a:buAutoNum type="arabicPeriod"/>
            </a:pPr>
            <a:endParaRPr lang="en-IN">
              <a:latin typeface="Mulish" panose="020B0604020202020204" charset="0"/>
            </a:endParaRPr>
          </a:p>
          <a:p>
            <a:pPr marL="342900" indent="-342900">
              <a:buFont typeface="+mj-lt"/>
              <a:buAutoNum type="arabicPeriod"/>
            </a:pPr>
            <a:r>
              <a:rPr lang="en-IN">
                <a:latin typeface="Mulish" panose="020B0604020202020204" charset="0"/>
              </a:rPr>
              <a:t>Not suitable for precision or dynamic applications</a:t>
            </a:r>
          </a:p>
        </p:txBody>
      </p:sp>
    </p:spTree>
    <p:extLst>
      <p:ext uri="{BB962C8B-B14F-4D97-AF65-F5344CB8AC3E}">
        <p14:creationId xmlns:p14="http://schemas.microsoft.com/office/powerpoint/2010/main" val="4010136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ADC080-4B7B-4397-9449-0D2A6D1997B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9</a:t>
            </a:fld>
            <a:endParaRPr lang="en-GB"/>
          </a:p>
        </p:txBody>
      </p:sp>
      <p:sp>
        <p:nvSpPr>
          <p:cNvPr id="3" name="Title 2">
            <a:extLst>
              <a:ext uri="{FF2B5EF4-FFF2-40B4-BE49-F238E27FC236}">
                <a16:creationId xmlns:a16="http://schemas.microsoft.com/office/drawing/2014/main" id="{C101343E-D990-2BFC-8C97-B0C3BC001026}"/>
              </a:ext>
            </a:extLst>
          </p:cNvPr>
          <p:cNvSpPr>
            <a:spLocks noGrp="1"/>
          </p:cNvSpPr>
          <p:nvPr>
            <p:ph type="title"/>
          </p:nvPr>
        </p:nvSpPr>
        <p:spPr>
          <a:xfrm>
            <a:off x="902992" y="547755"/>
            <a:ext cx="7505027" cy="531900"/>
          </a:xfrm>
        </p:spPr>
        <p:txBody>
          <a:bodyPr/>
          <a:lstStyle/>
          <a:p>
            <a:r>
              <a:rPr lang="en-US" sz="2800"/>
              <a:t>PI Controlled Closed Loop Buck Converter</a:t>
            </a:r>
            <a:endParaRPr lang="en-IN" sz="2800"/>
          </a:p>
        </p:txBody>
      </p:sp>
      <p:sp>
        <p:nvSpPr>
          <p:cNvPr id="5" name="TextBox 4">
            <a:extLst>
              <a:ext uri="{FF2B5EF4-FFF2-40B4-BE49-F238E27FC236}">
                <a16:creationId xmlns:a16="http://schemas.microsoft.com/office/drawing/2014/main" id="{3E332FD1-A835-8957-3D95-C8BD949AAF7D}"/>
              </a:ext>
            </a:extLst>
          </p:cNvPr>
          <p:cNvSpPr txBox="1"/>
          <p:nvPr/>
        </p:nvSpPr>
        <p:spPr>
          <a:xfrm>
            <a:off x="721112" y="1345580"/>
            <a:ext cx="7389542" cy="2960875"/>
          </a:xfrm>
          <a:prstGeom prst="rect">
            <a:avLst/>
          </a:prstGeom>
          <a:noFill/>
        </p:spPr>
        <p:txBody>
          <a:bodyPr wrap="square" rtlCol="0">
            <a:spAutoFit/>
          </a:bodyPr>
          <a:lstStyle/>
          <a:p>
            <a:pPr>
              <a:lnSpc>
                <a:spcPct val="150000"/>
              </a:lnSpc>
              <a:buNone/>
            </a:pPr>
            <a:r>
              <a:rPr lang="en-US">
                <a:latin typeface="Mulish" panose="020B0604020202020204" charset="0"/>
              </a:rPr>
              <a:t>A </a:t>
            </a:r>
            <a:r>
              <a:rPr lang="en-US" b="1">
                <a:latin typeface="Mulish" panose="020B0604020202020204" charset="0"/>
              </a:rPr>
              <a:t>closed-loop buck converter</a:t>
            </a:r>
            <a:r>
              <a:rPr lang="en-US">
                <a:latin typeface="Mulish" panose="020B0604020202020204" charset="0"/>
              </a:rPr>
              <a:t> with </a:t>
            </a:r>
            <a:r>
              <a:rPr lang="en-US" b="1">
                <a:latin typeface="Mulish" panose="020B0604020202020204" charset="0"/>
              </a:rPr>
              <a:t>Proportional-Integral (PI) control</a:t>
            </a:r>
            <a:r>
              <a:rPr lang="en-US">
                <a:latin typeface="Mulish" panose="020B0604020202020204" charset="0"/>
              </a:rPr>
              <a:t> is designed to maintain a constant and regulated DC output voltage, even when the input voltage or load conditions change. Unlike open-loop systems, this converter uses </a:t>
            </a:r>
            <a:r>
              <a:rPr lang="en-US" b="1">
                <a:latin typeface="Mulish" panose="020B0604020202020204" charset="0"/>
              </a:rPr>
              <a:t>feedback control</a:t>
            </a:r>
            <a:r>
              <a:rPr lang="en-US">
                <a:latin typeface="Mulish" panose="020B0604020202020204" charset="0"/>
              </a:rPr>
              <a:t> to adjust its operation dynamically.</a:t>
            </a:r>
          </a:p>
          <a:p>
            <a:pPr>
              <a:lnSpc>
                <a:spcPct val="150000"/>
              </a:lnSpc>
            </a:pPr>
            <a:r>
              <a:rPr lang="en-US">
                <a:latin typeface="Mulish" panose="020B0604020202020204" charset="0"/>
              </a:rPr>
              <a:t>In this system, the output voltage is continuously monitored and compared with a fixed </a:t>
            </a:r>
            <a:r>
              <a:rPr lang="en-US" b="1">
                <a:latin typeface="Mulish" panose="020B0604020202020204" charset="0"/>
              </a:rPr>
              <a:t>reference voltage</a:t>
            </a:r>
            <a:r>
              <a:rPr lang="en-US">
                <a:latin typeface="Mulish" panose="020B0604020202020204" charset="0"/>
              </a:rPr>
              <a:t>. The difference (error) is processed by a </a:t>
            </a:r>
            <a:r>
              <a:rPr lang="en-US" b="1">
                <a:latin typeface="Mulish" panose="020B0604020202020204" charset="0"/>
              </a:rPr>
              <a:t>PI controller</a:t>
            </a:r>
            <a:r>
              <a:rPr lang="en-US">
                <a:latin typeface="Mulish" panose="020B0604020202020204" charset="0"/>
              </a:rPr>
              <a:t>, which adjusts the </a:t>
            </a:r>
            <a:r>
              <a:rPr lang="en-US" b="1">
                <a:latin typeface="Mulish" panose="020B0604020202020204" charset="0"/>
              </a:rPr>
              <a:t>duty cycle</a:t>
            </a:r>
            <a:r>
              <a:rPr lang="en-US">
                <a:latin typeface="Mulish" panose="020B0604020202020204" charset="0"/>
              </a:rPr>
              <a:t> of the PWM signal driving the switch. This regulation helps maintain a stable output.</a:t>
            </a:r>
          </a:p>
          <a:p>
            <a:pPr>
              <a:lnSpc>
                <a:spcPct val="150000"/>
              </a:lnSpc>
            </a:pPr>
            <a:endParaRPr lang="en-IN"/>
          </a:p>
        </p:txBody>
      </p:sp>
    </p:spTree>
    <p:extLst>
      <p:ext uri="{BB962C8B-B14F-4D97-AF65-F5344CB8AC3E}">
        <p14:creationId xmlns:p14="http://schemas.microsoft.com/office/powerpoint/2010/main" val="3339037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4CEC2D-401A-A2CB-0688-AC201E8D817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10</a:t>
            </a:fld>
            <a:endParaRPr lang="en-GB"/>
          </a:p>
        </p:txBody>
      </p:sp>
      <p:sp>
        <p:nvSpPr>
          <p:cNvPr id="3" name="Title 2">
            <a:extLst>
              <a:ext uri="{FF2B5EF4-FFF2-40B4-BE49-F238E27FC236}">
                <a16:creationId xmlns:a16="http://schemas.microsoft.com/office/drawing/2014/main" id="{2064E35E-B765-E8BE-465E-E51571C2EE7E}"/>
              </a:ext>
            </a:extLst>
          </p:cNvPr>
          <p:cNvSpPr>
            <a:spLocks noGrp="1"/>
          </p:cNvSpPr>
          <p:nvPr>
            <p:ph type="title"/>
          </p:nvPr>
        </p:nvSpPr>
        <p:spPr>
          <a:xfrm>
            <a:off x="817757" y="502775"/>
            <a:ext cx="7679472" cy="531900"/>
          </a:xfrm>
        </p:spPr>
        <p:txBody>
          <a:bodyPr/>
          <a:lstStyle/>
          <a:p>
            <a:r>
              <a:rPr lang="en-US" sz="2800"/>
              <a:t>PI Controlled Closed Loop Buck Converter</a:t>
            </a:r>
            <a:endParaRPr lang="en-IN" sz="2800"/>
          </a:p>
        </p:txBody>
      </p:sp>
      <p:sp>
        <p:nvSpPr>
          <p:cNvPr id="5" name="TextBox 4">
            <a:extLst>
              <a:ext uri="{FF2B5EF4-FFF2-40B4-BE49-F238E27FC236}">
                <a16:creationId xmlns:a16="http://schemas.microsoft.com/office/drawing/2014/main" id="{60253648-0EFA-D6B6-7C09-A221C287BD85}"/>
              </a:ext>
            </a:extLst>
          </p:cNvPr>
          <p:cNvSpPr txBox="1"/>
          <p:nvPr/>
        </p:nvSpPr>
        <p:spPr>
          <a:xfrm>
            <a:off x="743415" y="1290449"/>
            <a:ext cx="7597697" cy="2893100"/>
          </a:xfrm>
          <a:prstGeom prst="rect">
            <a:avLst/>
          </a:prstGeom>
          <a:noFill/>
        </p:spPr>
        <p:txBody>
          <a:bodyPr wrap="square" rtlCol="0">
            <a:spAutoFit/>
          </a:bodyPr>
          <a:lstStyle/>
          <a:p>
            <a:pPr>
              <a:lnSpc>
                <a:spcPct val="150000"/>
              </a:lnSpc>
              <a:buNone/>
            </a:pPr>
            <a:r>
              <a:rPr lang="en-US" b="1">
                <a:latin typeface="Mulish" panose="020B0604020202020204" charset="0"/>
              </a:rPr>
              <a:t>Role of the PI Controller:</a:t>
            </a:r>
          </a:p>
          <a:p>
            <a:pPr>
              <a:lnSpc>
                <a:spcPct val="150000"/>
              </a:lnSpc>
              <a:buFont typeface="Arial" panose="020B0604020202020204" pitchFamily="34" charset="0"/>
              <a:buChar char="•"/>
            </a:pPr>
            <a:r>
              <a:rPr lang="en-US" b="1">
                <a:latin typeface="Mulish" panose="020B0604020202020204" charset="0"/>
              </a:rPr>
              <a:t>Proportional Gain (</a:t>
            </a:r>
            <a:r>
              <a:rPr lang="en-US" b="1" err="1">
                <a:latin typeface="Mulish" panose="020B0604020202020204" charset="0"/>
              </a:rPr>
              <a:t>Kp</a:t>
            </a:r>
            <a:r>
              <a:rPr lang="en-US" b="1">
                <a:latin typeface="Mulish" panose="020B0604020202020204" charset="0"/>
              </a:rPr>
              <a:t>):</a:t>
            </a:r>
            <a:r>
              <a:rPr lang="en-US">
                <a:latin typeface="Mulish" panose="020B0604020202020204" charset="0"/>
              </a:rPr>
              <a:t> Provides an immediate response to changes in the output voltage. A higher </a:t>
            </a:r>
            <a:r>
              <a:rPr lang="en-US" err="1">
                <a:latin typeface="Mulish" panose="020B0604020202020204" charset="0"/>
              </a:rPr>
              <a:t>Kp</a:t>
            </a:r>
            <a:r>
              <a:rPr lang="en-US">
                <a:latin typeface="Mulish" panose="020B0604020202020204" charset="0"/>
              </a:rPr>
              <a:t> results in faster correction.</a:t>
            </a:r>
          </a:p>
          <a:p>
            <a:pPr>
              <a:lnSpc>
                <a:spcPct val="150000"/>
              </a:lnSpc>
              <a:buFont typeface="Arial" panose="020B0604020202020204" pitchFamily="34" charset="0"/>
              <a:buChar char="•"/>
            </a:pPr>
            <a:r>
              <a:rPr lang="en-US" b="1">
                <a:latin typeface="Mulish" panose="020B0604020202020204" charset="0"/>
              </a:rPr>
              <a:t>Integral Gain (Ki):</a:t>
            </a:r>
            <a:r>
              <a:rPr lang="en-US">
                <a:latin typeface="Mulish" panose="020B0604020202020204" charset="0"/>
              </a:rPr>
              <a:t> Accumulates the error over time and eliminates long-term steady-state errors, improving accuracy.</a:t>
            </a:r>
          </a:p>
          <a:p>
            <a:pPr>
              <a:lnSpc>
                <a:spcPct val="150000"/>
              </a:lnSpc>
              <a:buNone/>
            </a:pPr>
            <a:r>
              <a:rPr lang="en-US">
                <a:latin typeface="Mulish" panose="020B0604020202020204" charset="0"/>
              </a:rPr>
              <a:t>Together, </a:t>
            </a:r>
            <a:r>
              <a:rPr lang="en-US" err="1">
                <a:latin typeface="Mulish" panose="020B0604020202020204" charset="0"/>
              </a:rPr>
              <a:t>Kp</a:t>
            </a:r>
            <a:r>
              <a:rPr lang="en-US">
                <a:latin typeface="Mulish" panose="020B0604020202020204" charset="0"/>
              </a:rPr>
              <a:t> and Ki ensure that the converter:</a:t>
            </a:r>
          </a:p>
          <a:p>
            <a:pPr>
              <a:lnSpc>
                <a:spcPct val="150000"/>
              </a:lnSpc>
              <a:buFont typeface="Arial" panose="020B0604020202020204" pitchFamily="34" charset="0"/>
              <a:buChar char="•"/>
            </a:pPr>
            <a:r>
              <a:rPr lang="en-US">
                <a:latin typeface="Mulish" panose="020B0604020202020204" charset="0"/>
              </a:rPr>
              <a:t>Reacts quickly to disturbances.</a:t>
            </a:r>
          </a:p>
          <a:p>
            <a:pPr>
              <a:lnSpc>
                <a:spcPct val="150000"/>
              </a:lnSpc>
              <a:buFont typeface="Arial" panose="020B0604020202020204" pitchFamily="34" charset="0"/>
              <a:buChar char="•"/>
            </a:pPr>
            <a:r>
              <a:rPr lang="en-US">
                <a:latin typeface="Mulish" panose="020B0604020202020204" charset="0"/>
              </a:rPr>
              <a:t>Maintains long-term stability.</a:t>
            </a:r>
          </a:p>
          <a:p>
            <a:endParaRPr lang="en-IN"/>
          </a:p>
        </p:txBody>
      </p:sp>
    </p:spTree>
    <p:extLst>
      <p:ext uri="{BB962C8B-B14F-4D97-AF65-F5344CB8AC3E}">
        <p14:creationId xmlns:p14="http://schemas.microsoft.com/office/powerpoint/2010/main" val="2699016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079835-A30E-5AFA-A831-024118DDE03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11</a:t>
            </a:fld>
            <a:endParaRPr lang="en-GB"/>
          </a:p>
        </p:txBody>
      </p:sp>
      <p:sp>
        <p:nvSpPr>
          <p:cNvPr id="3" name="Title 2">
            <a:extLst>
              <a:ext uri="{FF2B5EF4-FFF2-40B4-BE49-F238E27FC236}">
                <a16:creationId xmlns:a16="http://schemas.microsoft.com/office/drawing/2014/main" id="{5CAF7CE3-64CD-3985-09E2-581E54B86021}"/>
              </a:ext>
            </a:extLst>
          </p:cNvPr>
          <p:cNvSpPr>
            <a:spLocks noGrp="1"/>
          </p:cNvSpPr>
          <p:nvPr>
            <p:ph type="title"/>
          </p:nvPr>
        </p:nvSpPr>
        <p:spPr>
          <a:xfrm>
            <a:off x="1051676" y="555189"/>
            <a:ext cx="7204200" cy="531900"/>
          </a:xfrm>
        </p:spPr>
        <p:txBody>
          <a:bodyPr/>
          <a:lstStyle/>
          <a:p>
            <a:r>
              <a:rPr lang="en-US" sz="2800"/>
              <a:t>PI Controlled Closed Loop Buck Converter</a:t>
            </a:r>
            <a:endParaRPr lang="en-IN" sz="2800"/>
          </a:p>
        </p:txBody>
      </p:sp>
      <p:sp>
        <p:nvSpPr>
          <p:cNvPr id="5" name="TextBox 4">
            <a:extLst>
              <a:ext uri="{FF2B5EF4-FFF2-40B4-BE49-F238E27FC236}">
                <a16:creationId xmlns:a16="http://schemas.microsoft.com/office/drawing/2014/main" id="{BE8FF1A8-D435-C76B-1484-3869DBF5A40B}"/>
              </a:ext>
            </a:extLst>
          </p:cNvPr>
          <p:cNvSpPr txBox="1"/>
          <p:nvPr/>
        </p:nvSpPr>
        <p:spPr>
          <a:xfrm>
            <a:off x="773151" y="1267703"/>
            <a:ext cx="6378498" cy="3539430"/>
          </a:xfrm>
          <a:prstGeom prst="rect">
            <a:avLst/>
          </a:prstGeom>
          <a:noFill/>
        </p:spPr>
        <p:txBody>
          <a:bodyPr wrap="square" rtlCol="0">
            <a:spAutoFit/>
          </a:bodyPr>
          <a:lstStyle/>
          <a:p>
            <a:pPr>
              <a:lnSpc>
                <a:spcPct val="150000"/>
              </a:lnSpc>
              <a:buNone/>
            </a:pPr>
            <a:r>
              <a:rPr lang="en-US" b="1">
                <a:latin typeface="Mulish" panose="020B0604020202020204" charset="0"/>
              </a:rPr>
              <a:t>System Implementation and Analysis:</a:t>
            </a:r>
          </a:p>
          <a:p>
            <a:pPr>
              <a:lnSpc>
                <a:spcPct val="150000"/>
              </a:lnSpc>
              <a:buFont typeface="Arial" panose="020B0604020202020204" pitchFamily="34" charset="0"/>
              <a:buChar char="•"/>
            </a:pPr>
            <a:r>
              <a:rPr lang="en-US">
                <a:latin typeface="Mulish" panose="020B0604020202020204" charset="0"/>
              </a:rPr>
              <a:t>The entire system is modeled and </a:t>
            </a:r>
            <a:r>
              <a:rPr lang="en-US" b="1">
                <a:latin typeface="Mulish" panose="020B0604020202020204" charset="0"/>
              </a:rPr>
              <a:t>simulated in MATLAB Simulink</a:t>
            </a:r>
            <a:r>
              <a:rPr lang="en-US">
                <a:latin typeface="Mulish" panose="020B0604020202020204" charset="0"/>
              </a:rPr>
              <a:t>.</a:t>
            </a:r>
          </a:p>
          <a:p>
            <a:pPr>
              <a:lnSpc>
                <a:spcPct val="150000"/>
              </a:lnSpc>
              <a:buFont typeface="Arial" panose="020B0604020202020204" pitchFamily="34" charset="0"/>
              <a:buChar char="•"/>
            </a:pPr>
            <a:r>
              <a:rPr lang="en-US">
                <a:latin typeface="Mulish" panose="020B0604020202020204" charset="0"/>
              </a:rPr>
              <a:t>The converter's performance is evaluated under a variety of input voltages and load conditions.</a:t>
            </a:r>
          </a:p>
          <a:p>
            <a:pPr>
              <a:lnSpc>
                <a:spcPct val="150000"/>
              </a:lnSpc>
              <a:buFont typeface="Arial" panose="020B0604020202020204" pitchFamily="34" charset="0"/>
              <a:buChar char="•"/>
            </a:pPr>
            <a:r>
              <a:rPr lang="en-US">
                <a:latin typeface="Mulish" panose="020B0604020202020204" charset="0"/>
              </a:rPr>
              <a:t>Key performance metrics include:</a:t>
            </a:r>
          </a:p>
          <a:p>
            <a:pPr marL="800100" lvl="1" indent="-342900">
              <a:lnSpc>
                <a:spcPct val="150000"/>
              </a:lnSpc>
              <a:buFont typeface="+mj-lt"/>
              <a:buAutoNum type="arabicPeriod"/>
            </a:pPr>
            <a:r>
              <a:rPr lang="en-US">
                <a:latin typeface="Mulish" panose="020B0604020202020204" charset="0"/>
              </a:rPr>
              <a:t>Voltage regulation quality</a:t>
            </a:r>
          </a:p>
          <a:p>
            <a:pPr marL="800100" lvl="1" indent="-342900">
              <a:lnSpc>
                <a:spcPct val="150000"/>
              </a:lnSpc>
              <a:buFont typeface="+mj-lt"/>
              <a:buAutoNum type="arabicPeriod"/>
            </a:pPr>
            <a:r>
              <a:rPr lang="en-US">
                <a:latin typeface="Mulish" panose="020B0604020202020204" charset="0"/>
              </a:rPr>
              <a:t>Dynamic response time</a:t>
            </a:r>
          </a:p>
          <a:p>
            <a:pPr marL="800100" lvl="1" indent="-342900">
              <a:lnSpc>
                <a:spcPct val="150000"/>
              </a:lnSpc>
              <a:buFont typeface="+mj-lt"/>
              <a:buAutoNum type="arabicPeriod"/>
            </a:pPr>
            <a:r>
              <a:rPr lang="en-US">
                <a:latin typeface="Mulish" panose="020B0604020202020204" charset="0"/>
              </a:rPr>
              <a:t>System stability and steady-state error</a:t>
            </a:r>
          </a:p>
          <a:p>
            <a:pPr>
              <a:lnSpc>
                <a:spcPct val="150000"/>
              </a:lnSpc>
            </a:pPr>
            <a:r>
              <a:rPr lang="en-US">
                <a:latin typeface="Mulish" panose="020B0604020202020204" charset="0"/>
              </a:rPr>
              <a:t>This approach provides a reliable and robust method of DC voltage regulation in practical power electronics applications.</a:t>
            </a:r>
          </a:p>
          <a:p>
            <a:endParaRPr lang="en-IN"/>
          </a:p>
        </p:txBody>
      </p:sp>
    </p:spTree>
    <p:extLst>
      <p:ext uri="{BB962C8B-B14F-4D97-AF65-F5344CB8AC3E}">
        <p14:creationId xmlns:p14="http://schemas.microsoft.com/office/powerpoint/2010/main" val="2769688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43"/>
          <p:cNvSpPr txBox="1">
            <a:spLocks noGrp="1"/>
          </p:cNvSpPr>
          <p:nvPr>
            <p:ph type="title"/>
          </p:nvPr>
        </p:nvSpPr>
        <p:spPr>
          <a:xfrm>
            <a:off x="720000" y="445025"/>
            <a:ext cx="7704000" cy="4836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800">
                <a:solidFill>
                  <a:schemeClr val="bg2"/>
                </a:solidFill>
              </a:rPr>
              <a:t>Blocks used in designing the Model </a:t>
            </a:r>
          </a:p>
        </p:txBody>
      </p:sp>
      <p:sp>
        <p:nvSpPr>
          <p:cNvPr id="488" name="Google Shape;488;p43"/>
          <p:cNvSpPr txBox="1">
            <a:spLocks noGrp="1"/>
          </p:cNvSpPr>
          <p:nvPr>
            <p:ph type="subTitle" idx="13"/>
          </p:nvPr>
        </p:nvSpPr>
        <p:spPr>
          <a:xfrm>
            <a:off x="573494" y="3293123"/>
            <a:ext cx="8010450" cy="52923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1400">
                <a:solidFill>
                  <a:schemeClr val="tx2">
                    <a:lumMod val="10000"/>
                  </a:schemeClr>
                </a:solidFill>
              </a:rPr>
              <a:t>           </a:t>
            </a:r>
            <a:r>
              <a:rPr lang="en-GB" sz="1400">
                <a:solidFill>
                  <a:schemeClr val="tx2">
                    <a:lumMod val="10000"/>
                  </a:schemeClr>
                </a:solidFill>
                <a:latin typeface="Mulish" panose="020B0604020202020204" charset="0"/>
              </a:rPr>
              <a:t>PWM Generator </a:t>
            </a:r>
            <a:r>
              <a:rPr lang="en-GB" sz="1400" b="0">
                <a:solidFill>
                  <a:schemeClr val="tx2">
                    <a:lumMod val="10000"/>
                  </a:schemeClr>
                </a:solidFill>
                <a:latin typeface="Mulish" panose="020B0604020202020204" charset="0"/>
              </a:rPr>
              <a:t>-  Processes the error and generates a control signal to adjust the PWM                                                        </a:t>
            </a:r>
          </a:p>
          <a:p>
            <a:pPr marL="0" lvl="0" indent="0" algn="l" rtl="0">
              <a:spcBef>
                <a:spcPts val="0"/>
              </a:spcBef>
              <a:spcAft>
                <a:spcPts val="0"/>
              </a:spcAft>
              <a:buNone/>
            </a:pPr>
            <a:r>
              <a:rPr lang="en-GB" sz="1400" b="0">
                <a:solidFill>
                  <a:schemeClr val="tx2">
                    <a:lumMod val="10000"/>
                  </a:schemeClr>
                </a:solidFill>
                <a:latin typeface="Mulish" panose="020B0604020202020204" charset="0"/>
              </a:rPr>
              <a:t>                                          duty cycle to regulate output voltage.</a:t>
            </a:r>
          </a:p>
        </p:txBody>
      </p:sp>
      <p:sp>
        <p:nvSpPr>
          <p:cNvPr id="489" name="Google Shape;489;p43"/>
          <p:cNvSpPr txBox="1">
            <a:spLocks noGrp="1"/>
          </p:cNvSpPr>
          <p:nvPr>
            <p:ph type="subTitle" idx="8"/>
          </p:nvPr>
        </p:nvSpPr>
        <p:spPr>
          <a:xfrm>
            <a:off x="573495" y="1617104"/>
            <a:ext cx="8010451" cy="58327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   </a:t>
            </a:r>
            <a:r>
              <a:rPr lang="en-GB" sz="1400" b="0">
                <a:latin typeface="Mulish" panose="020B0604020202020204" charset="0"/>
              </a:rPr>
              <a:t>       </a:t>
            </a:r>
            <a:r>
              <a:rPr lang="en-GB" sz="1400">
                <a:solidFill>
                  <a:schemeClr val="tx2">
                    <a:lumMod val="10000"/>
                  </a:schemeClr>
                </a:solidFill>
                <a:latin typeface="Mulish" panose="020B0604020202020204" charset="0"/>
              </a:rPr>
              <a:t>Current measurement </a:t>
            </a:r>
            <a:r>
              <a:rPr lang="en-GB" sz="1400" b="0">
                <a:solidFill>
                  <a:schemeClr val="tx2">
                    <a:lumMod val="10000"/>
                  </a:schemeClr>
                </a:solidFill>
                <a:latin typeface="Mulish" panose="020B0604020202020204" charset="0"/>
              </a:rPr>
              <a:t>– Measures the current passing through the inductor.</a:t>
            </a:r>
          </a:p>
        </p:txBody>
      </p:sp>
      <p:sp>
        <p:nvSpPr>
          <p:cNvPr id="490" name="Google Shape;490;p43"/>
          <p:cNvSpPr txBox="1">
            <a:spLocks noGrp="1"/>
          </p:cNvSpPr>
          <p:nvPr>
            <p:ph type="subTitle" idx="7"/>
          </p:nvPr>
        </p:nvSpPr>
        <p:spPr>
          <a:xfrm>
            <a:off x="581878" y="3837383"/>
            <a:ext cx="8002066" cy="50434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1400">
                <a:solidFill>
                  <a:schemeClr val="tx2">
                    <a:lumMod val="10000"/>
                  </a:schemeClr>
                </a:solidFill>
                <a:latin typeface="Mulish" panose="020B0604020202020204" charset="0"/>
              </a:rPr>
              <a:t>           Constant </a:t>
            </a:r>
            <a:r>
              <a:rPr lang="en-GB" sz="1400" b="0">
                <a:solidFill>
                  <a:schemeClr val="tx2">
                    <a:lumMod val="10000"/>
                  </a:schemeClr>
                </a:solidFill>
                <a:latin typeface="Mulish" panose="020B0604020202020204" charset="0"/>
              </a:rPr>
              <a:t>– It is used to provide a fix reference voltage</a:t>
            </a:r>
            <a:r>
              <a:rPr lang="en-GB" sz="1400">
                <a:solidFill>
                  <a:schemeClr val="tx2">
                    <a:lumMod val="10000"/>
                  </a:schemeClr>
                </a:solidFill>
                <a:latin typeface="Mulish" panose="020B0604020202020204" charset="0"/>
              </a:rPr>
              <a:t>.</a:t>
            </a:r>
          </a:p>
        </p:txBody>
      </p:sp>
      <p:sp>
        <p:nvSpPr>
          <p:cNvPr id="495" name="Google Shape;495;p43"/>
          <p:cNvSpPr txBox="1">
            <a:spLocks noGrp="1"/>
          </p:cNvSpPr>
          <p:nvPr>
            <p:ph type="subTitle" idx="9"/>
          </p:nvPr>
        </p:nvSpPr>
        <p:spPr>
          <a:xfrm>
            <a:off x="573495" y="1033834"/>
            <a:ext cx="8010452" cy="58327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        </a:t>
            </a:r>
            <a:r>
              <a:rPr lang="en-GB" sz="1400">
                <a:solidFill>
                  <a:schemeClr val="tx2">
                    <a:lumMod val="10000"/>
                  </a:schemeClr>
                </a:solidFill>
                <a:latin typeface="Mulish" panose="020B0604020202020204" charset="0"/>
              </a:rPr>
              <a:t>Voltage Measurement- </a:t>
            </a:r>
            <a:r>
              <a:rPr lang="en-GB" sz="1400" b="0">
                <a:solidFill>
                  <a:schemeClr val="tx2">
                    <a:lumMod val="10000"/>
                  </a:schemeClr>
                </a:solidFill>
                <a:latin typeface="Mulish" panose="020B0604020202020204" charset="0"/>
              </a:rPr>
              <a:t>Measures the voltage across the load resistance.</a:t>
            </a:r>
          </a:p>
        </p:txBody>
      </p:sp>
      <p:sp>
        <p:nvSpPr>
          <p:cNvPr id="496" name="Google Shape;496;p43"/>
          <p:cNvSpPr txBox="1">
            <a:spLocks noGrp="1"/>
          </p:cNvSpPr>
          <p:nvPr>
            <p:ph type="subTitle" idx="14"/>
          </p:nvPr>
        </p:nvSpPr>
        <p:spPr>
          <a:xfrm>
            <a:off x="573494" y="2746112"/>
            <a:ext cx="8010450" cy="52923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 </a:t>
            </a:r>
            <a:r>
              <a:rPr lang="en-GB" b="0">
                <a:latin typeface="Mulish" panose="020B0604020202020204" charset="0"/>
              </a:rPr>
              <a:t>       </a:t>
            </a:r>
            <a:r>
              <a:rPr lang="en-GB" sz="1400">
                <a:solidFill>
                  <a:schemeClr val="tx2">
                    <a:lumMod val="10000"/>
                  </a:schemeClr>
                </a:solidFill>
                <a:latin typeface="Mulish" panose="020B0604020202020204" charset="0"/>
              </a:rPr>
              <a:t>PID Controller </a:t>
            </a:r>
            <a:r>
              <a:rPr lang="en-GB" sz="1400" b="0">
                <a:solidFill>
                  <a:schemeClr val="tx2">
                    <a:lumMod val="10000"/>
                  </a:schemeClr>
                </a:solidFill>
                <a:latin typeface="Mulish" panose="020B0604020202020204" charset="0"/>
              </a:rPr>
              <a:t>– Implements the PI control for regulating the output voltage.</a:t>
            </a:r>
          </a:p>
        </p:txBody>
      </p:sp>
      <p:sp>
        <p:nvSpPr>
          <p:cNvPr id="497" name="Google Shape;497;p43"/>
          <p:cNvSpPr txBox="1">
            <a:spLocks noGrp="1"/>
          </p:cNvSpPr>
          <p:nvPr>
            <p:ph type="subTitle" idx="15"/>
          </p:nvPr>
        </p:nvSpPr>
        <p:spPr>
          <a:xfrm>
            <a:off x="573494" y="2199100"/>
            <a:ext cx="8010450" cy="52923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        </a:t>
            </a:r>
            <a:r>
              <a:rPr lang="en-GB" sz="1400">
                <a:solidFill>
                  <a:schemeClr val="tx2">
                    <a:lumMod val="10000"/>
                  </a:schemeClr>
                </a:solidFill>
                <a:latin typeface="Mulish" panose="020B0604020202020204" charset="0"/>
              </a:rPr>
              <a:t>Sum</a:t>
            </a:r>
            <a:r>
              <a:rPr lang="en-GB" sz="1400" b="0">
                <a:solidFill>
                  <a:schemeClr val="tx2">
                    <a:lumMod val="10000"/>
                  </a:schemeClr>
                </a:solidFill>
                <a:latin typeface="Mulish" panose="020B0604020202020204" charset="0"/>
              </a:rPr>
              <a:t> – Compares desired v/s actual output and generates the error.</a:t>
            </a:r>
          </a:p>
        </p:txBody>
      </p:sp>
      <p:sp>
        <p:nvSpPr>
          <p:cNvPr id="498" name="Google Shape;498;p4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GB"/>
              <a:t>12</a:t>
            </a:fld>
            <a:endParaRPr lang="en-GB"/>
          </a:p>
        </p:txBody>
      </p:sp>
      <p:pic>
        <p:nvPicPr>
          <p:cNvPr id="2" name="Picture 1">
            <a:extLst>
              <a:ext uri="{FF2B5EF4-FFF2-40B4-BE49-F238E27FC236}">
                <a16:creationId xmlns:a16="http://schemas.microsoft.com/office/drawing/2014/main" id="{AC4BA7FB-8FD4-9321-22D2-952AF1D78F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3495" y="1033834"/>
            <a:ext cx="607821" cy="583270"/>
          </a:xfrm>
          <a:prstGeom prst="rect">
            <a:avLst/>
          </a:prstGeom>
        </p:spPr>
      </p:pic>
      <p:pic>
        <p:nvPicPr>
          <p:cNvPr id="9" name="Picture 8">
            <a:extLst>
              <a:ext uri="{FF2B5EF4-FFF2-40B4-BE49-F238E27FC236}">
                <a16:creationId xmlns:a16="http://schemas.microsoft.com/office/drawing/2014/main" id="{8F6FEFB0-D314-1370-BF34-052D5ACA3BC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1878" y="1624454"/>
            <a:ext cx="599437" cy="583270"/>
          </a:xfrm>
          <a:prstGeom prst="rect">
            <a:avLst/>
          </a:prstGeom>
        </p:spPr>
      </p:pic>
      <p:pic>
        <p:nvPicPr>
          <p:cNvPr id="10" name="Picture 9">
            <a:extLst>
              <a:ext uri="{FF2B5EF4-FFF2-40B4-BE49-F238E27FC236}">
                <a16:creationId xmlns:a16="http://schemas.microsoft.com/office/drawing/2014/main" id="{213E1A5E-86CA-F0CF-F38A-BA6AEFDCD3A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2927" y="2233619"/>
            <a:ext cx="568388" cy="494713"/>
          </a:xfrm>
          <a:prstGeom prst="rect">
            <a:avLst/>
          </a:prstGeom>
        </p:spPr>
      </p:pic>
      <p:pic>
        <p:nvPicPr>
          <p:cNvPr id="11" name="Picture 10">
            <a:extLst>
              <a:ext uri="{FF2B5EF4-FFF2-40B4-BE49-F238E27FC236}">
                <a16:creationId xmlns:a16="http://schemas.microsoft.com/office/drawing/2014/main" id="{52704D57-D901-659C-C889-07770F8D5B2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88511" y="2761141"/>
            <a:ext cx="592804" cy="541838"/>
          </a:xfrm>
          <a:prstGeom prst="rect">
            <a:avLst/>
          </a:prstGeom>
        </p:spPr>
      </p:pic>
      <p:pic>
        <p:nvPicPr>
          <p:cNvPr id="12" name="Picture 11">
            <a:extLst>
              <a:ext uri="{FF2B5EF4-FFF2-40B4-BE49-F238E27FC236}">
                <a16:creationId xmlns:a16="http://schemas.microsoft.com/office/drawing/2014/main" id="{3F28F240-1502-F976-9E9E-8FFF84B0055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81878" y="3318008"/>
            <a:ext cx="592804" cy="504346"/>
          </a:xfrm>
          <a:prstGeom prst="rect">
            <a:avLst/>
          </a:prstGeom>
        </p:spPr>
      </p:pic>
      <p:pic>
        <p:nvPicPr>
          <p:cNvPr id="13" name="Picture 12">
            <a:extLst>
              <a:ext uri="{FF2B5EF4-FFF2-40B4-BE49-F238E27FC236}">
                <a16:creationId xmlns:a16="http://schemas.microsoft.com/office/drawing/2014/main" id="{284CBCCE-7A1F-2329-A33E-8D3E73841E3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8511" y="3826500"/>
            <a:ext cx="592804" cy="50434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3" name="Google Shape;363;p35"/>
          <p:cNvSpPr txBox="1">
            <a:spLocks noGrp="1"/>
          </p:cNvSpPr>
          <p:nvPr>
            <p:ph type="subTitle" idx="1"/>
          </p:nvPr>
        </p:nvSpPr>
        <p:spPr>
          <a:xfrm>
            <a:off x="356839" y="554534"/>
            <a:ext cx="8363415" cy="4971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GB" sz="2200" b="1">
                <a:solidFill>
                  <a:schemeClr val="bg2"/>
                </a:solidFill>
                <a:latin typeface="Quicksand" panose="020B0604020202020204" charset="0"/>
              </a:rPr>
              <a:t>Circuit Diagram Of PI Controlled Closed Loop Buck Converter</a:t>
            </a:r>
          </a:p>
        </p:txBody>
      </p:sp>
      <p:sp>
        <p:nvSpPr>
          <p:cNvPr id="364" name="Google Shape;364;p35"/>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GB"/>
              <a:t>13</a:t>
            </a:fld>
            <a:endParaRPr lang="en-GB"/>
          </a:p>
        </p:txBody>
      </p:sp>
      <p:pic>
        <p:nvPicPr>
          <p:cNvPr id="6" name="Picture 5">
            <a:extLst>
              <a:ext uri="{FF2B5EF4-FFF2-40B4-BE49-F238E27FC236}">
                <a16:creationId xmlns:a16="http://schemas.microsoft.com/office/drawing/2014/main" id="{E7490EB4-A891-BB77-715F-95EDC1C1A1AC}"/>
              </a:ext>
            </a:extLst>
          </p:cNvPr>
          <p:cNvPicPr>
            <a:picLocks noChangeAspect="1"/>
          </p:cNvPicPr>
          <p:nvPr/>
        </p:nvPicPr>
        <p:blipFill>
          <a:blip r:embed="rId3"/>
          <a:srcRect r="922"/>
          <a:stretch/>
        </p:blipFill>
        <p:spPr>
          <a:xfrm>
            <a:off x="126380" y="1051634"/>
            <a:ext cx="8861503" cy="363187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DE295C-4F9E-313D-3B11-D08E2DDBF40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14</a:t>
            </a:fld>
            <a:endParaRPr lang="en-GB"/>
          </a:p>
        </p:txBody>
      </p:sp>
      <p:sp>
        <p:nvSpPr>
          <p:cNvPr id="4" name="Subtitle 3">
            <a:extLst>
              <a:ext uri="{FF2B5EF4-FFF2-40B4-BE49-F238E27FC236}">
                <a16:creationId xmlns:a16="http://schemas.microsoft.com/office/drawing/2014/main" id="{991B899F-D626-77E9-8DAF-8819F11652DD}"/>
              </a:ext>
            </a:extLst>
          </p:cNvPr>
          <p:cNvSpPr>
            <a:spLocks noGrp="1"/>
          </p:cNvSpPr>
          <p:nvPr>
            <p:ph type="subTitle" idx="1"/>
          </p:nvPr>
        </p:nvSpPr>
        <p:spPr>
          <a:xfrm>
            <a:off x="1217093" y="658612"/>
            <a:ext cx="6576000" cy="568022"/>
          </a:xfrm>
        </p:spPr>
        <p:txBody>
          <a:bodyPr/>
          <a:lstStyle/>
          <a:p>
            <a:r>
              <a:rPr lang="en-US" sz="2800" b="1">
                <a:solidFill>
                  <a:schemeClr val="bg2"/>
                </a:solidFill>
                <a:latin typeface="Quicksand" panose="020B0604020202020204" charset="0"/>
              </a:rPr>
              <a:t>Waveform</a:t>
            </a:r>
            <a:endParaRPr lang="en-IN" sz="2800" b="1">
              <a:solidFill>
                <a:schemeClr val="bg2"/>
              </a:solidFill>
              <a:latin typeface="Quicksand" panose="020B0604020202020204" charset="0"/>
            </a:endParaRPr>
          </a:p>
        </p:txBody>
      </p:sp>
      <p:pic>
        <p:nvPicPr>
          <p:cNvPr id="6" name="Picture 5">
            <a:extLst>
              <a:ext uri="{FF2B5EF4-FFF2-40B4-BE49-F238E27FC236}">
                <a16:creationId xmlns:a16="http://schemas.microsoft.com/office/drawing/2014/main" id="{6681FA2D-239A-FAB6-0CF2-DB255FD2E5BF}"/>
              </a:ext>
            </a:extLst>
          </p:cNvPr>
          <p:cNvPicPr>
            <a:picLocks noChangeAspect="1"/>
          </p:cNvPicPr>
          <p:nvPr/>
        </p:nvPicPr>
        <p:blipFill>
          <a:blip r:embed="rId2"/>
          <a:srcRect t="7516" r="40411" b="4025"/>
          <a:stretch/>
        </p:blipFill>
        <p:spPr>
          <a:xfrm>
            <a:off x="520390" y="1338147"/>
            <a:ext cx="5194610" cy="2906752"/>
          </a:xfrm>
          <a:prstGeom prst="rect">
            <a:avLst/>
          </a:prstGeom>
        </p:spPr>
      </p:pic>
      <p:sp>
        <p:nvSpPr>
          <p:cNvPr id="7" name="TextBox 6">
            <a:extLst>
              <a:ext uri="{FF2B5EF4-FFF2-40B4-BE49-F238E27FC236}">
                <a16:creationId xmlns:a16="http://schemas.microsoft.com/office/drawing/2014/main" id="{097DCF56-04DC-3A70-38E4-EF9B84FEAA4C}"/>
              </a:ext>
            </a:extLst>
          </p:cNvPr>
          <p:cNvSpPr txBox="1"/>
          <p:nvPr/>
        </p:nvSpPr>
        <p:spPr>
          <a:xfrm>
            <a:off x="520390" y="4363844"/>
            <a:ext cx="4728117" cy="492443"/>
          </a:xfrm>
          <a:prstGeom prst="rect">
            <a:avLst/>
          </a:prstGeom>
          <a:noFill/>
        </p:spPr>
        <p:txBody>
          <a:bodyPr wrap="square" rtlCol="0">
            <a:spAutoFit/>
          </a:bodyPr>
          <a:lstStyle/>
          <a:p>
            <a:r>
              <a:rPr lang="en-US" sz="1200"/>
              <a:t>1) </a:t>
            </a:r>
            <a:r>
              <a:rPr lang="en-US" sz="1200" err="1"/>
              <a:t>Vout</a:t>
            </a:r>
            <a:r>
              <a:rPr lang="en-US" sz="1200"/>
              <a:t> v/s Time   2) Duty cycle v/s Time     3) PWM Pulse v/s Time</a:t>
            </a:r>
          </a:p>
          <a:p>
            <a:endParaRPr lang="en-IN"/>
          </a:p>
        </p:txBody>
      </p:sp>
      <p:graphicFrame>
        <p:nvGraphicFramePr>
          <p:cNvPr id="8" name="Table 7">
            <a:extLst>
              <a:ext uri="{FF2B5EF4-FFF2-40B4-BE49-F238E27FC236}">
                <a16:creationId xmlns:a16="http://schemas.microsoft.com/office/drawing/2014/main" id="{309CB2A5-6519-55DF-56FD-A7CE8D968C43}"/>
              </a:ext>
            </a:extLst>
          </p:cNvPr>
          <p:cNvGraphicFramePr>
            <a:graphicFrameLocks noGrp="1"/>
          </p:cNvGraphicFramePr>
          <p:nvPr>
            <p:extLst>
              <p:ext uri="{D42A27DB-BD31-4B8C-83A1-F6EECF244321}">
                <p14:modId xmlns:p14="http://schemas.microsoft.com/office/powerpoint/2010/main" val="2683219632"/>
              </p:ext>
            </p:extLst>
          </p:nvPr>
        </p:nvGraphicFramePr>
        <p:xfrm>
          <a:off x="5867400" y="1348632"/>
          <a:ext cx="2506980" cy="2906748"/>
        </p:xfrm>
        <a:graphic>
          <a:graphicData uri="http://schemas.openxmlformats.org/drawingml/2006/table">
            <a:tbl>
              <a:tblPr firstRow="1" firstCol="1" bandRow="1">
                <a:tableStyleId>{5C22544A-7EE6-4342-B048-85BDC9FD1C3A}</a:tableStyleId>
              </a:tblPr>
              <a:tblGrid>
                <a:gridCol w="1684377">
                  <a:extLst>
                    <a:ext uri="{9D8B030D-6E8A-4147-A177-3AD203B41FA5}">
                      <a16:colId xmlns:a16="http://schemas.microsoft.com/office/drawing/2014/main" val="1171306737"/>
                    </a:ext>
                  </a:extLst>
                </a:gridCol>
                <a:gridCol w="822603">
                  <a:extLst>
                    <a:ext uri="{9D8B030D-6E8A-4147-A177-3AD203B41FA5}">
                      <a16:colId xmlns:a16="http://schemas.microsoft.com/office/drawing/2014/main" val="3688305806"/>
                    </a:ext>
                  </a:extLst>
                </a:gridCol>
              </a:tblGrid>
              <a:tr h="322972">
                <a:tc>
                  <a:txBody>
                    <a:bodyPr/>
                    <a:lstStyle/>
                    <a:p>
                      <a:pPr>
                        <a:lnSpc>
                          <a:spcPct val="107000"/>
                        </a:lnSpc>
                        <a:spcAft>
                          <a:spcPts val="800"/>
                        </a:spcAft>
                        <a:buNone/>
                      </a:pPr>
                      <a:r>
                        <a:rPr lang="en-IN" sz="1400" b="0" kern="100">
                          <a:solidFill>
                            <a:schemeClr val="tx1"/>
                          </a:solidFill>
                          <a:effectLst/>
                        </a:rPr>
                        <a:t>Vin</a:t>
                      </a:r>
                      <a:endParaRPr lang="en-IN" sz="1100" b="0" kern="1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b="0" kern="100">
                          <a:solidFill>
                            <a:schemeClr val="tx1"/>
                          </a:solidFill>
                          <a:effectLst/>
                        </a:rPr>
                        <a:t>24 V</a:t>
                      </a:r>
                      <a:endParaRPr lang="en-IN" sz="1100" b="0" kern="1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43612577"/>
                  </a:ext>
                </a:extLst>
              </a:tr>
              <a:tr h="322972">
                <a:tc>
                  <a:txBody>
                    <a:bodyPr/>
                    <a:lstStyle/>
                    <a:p>
                      <a:pPr>
                        <a:lnSpc>
                          <a:spcPct val="107000"/>
                        </a:lnSpc>
                        <a:spcAft>
                          <a:spcPts val="800"/>
                        </a:spcAft>
                        <a:buNone/>
                      </a:pPr>
                      <a:r>
                        <a:rPr lang="en-IN" sz="1400" b="0" kern="100">
                          <a:solidFill>
                            <a:schemeClr val="tx1"/>
                          </a:solidFill>
                          <a:effectLst/>
                        </a:rPr>
                        <a:t>Vout</a:t>
                      </a:r>
                      <a:endParaRPr lang="en-IN" sz="1100" b="0" kern="1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rPr>
                        <a:t>12 V</a:t>
                      </a:r>
                      <a:endParaRPr lang="en-IN"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42265612"/>
                  </a:ext>
                </a:extLst>
              </a:tr>
              <a:tr h="322972">
                <a:tc>
                  <a:txBody>
                    <a:bodyPr/>
                    <a:lstStyle/>
                    <a:p>
                      <a:pPr>
                        <a:lnSpc>
                          <a:spcPct val="107000"/>
                        </a:lnSpc>
                        <a:spcAft>
                          <a:spcPts val="800"/>
                        </a:spcAft>
                        <a:buNone/>
                      </a:pPr>
                      <a:r>
                        <a:rPr lang="en-IN" sz="1400" b="0" kern="100">
                          <a:solidFill>
                            <a:schemeClr val="tx1"/>
                          </a:solidFill>
                          <a:effectLst/>
                        </a:rPr>
                        <a:t>Inductance(L)</a:t>
                      </a:r>
                      <a:endParaRPr lang="en-IN" sz="1100" b="0" kern="1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rPr>
                        <a:t>1 mH</a:t>
                      </a:r>
                      <a:endParaRPr lang="en-IN"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11733181"/>
                  </a:ext>
                </a:extLst>
              </a:tr>
              <a:tr h="322972">
                <a:tc>
                  <a:txBody>
                    <a:bodyPr/>
                    <a:lstStyle/>
                    <a:p>
                      <a:pPr>
                        <a:lnSpc>
                          <a:spcPct val="107000"/>
                        </a:lnSpc>
                        <a:spcAft>
                          <a:spcPts val="800"/>
                        </a:spcAft>
                        <a:buNone/>
                      </a:pPr>
                      <a:r>
                        <a:rPr lang="en-IN" sz="1400" b="0" kern="100">
                          <a:solidFill>
                            <a:schemeClr val="tx1"/>
                          </a:solidFill>
                          <a:effectLst/>
                        </a:rPr>
                        <a:t>Capacitance(C)</a:t>
                      </a:r>
                      <a:endParaRPr lang="en-IN" sz="1100" b="0" kern="1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rPr>
                        <a:t>470 µF</a:t>
                      </a:r>
                      <a:endParaRPr lang="en-IN"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43537935"/>
                  </a:ext>
                </a:extLst>
              </a:tr>
              <a:tr h="322972">
                <a:tc>
                  <a:txBody>
                    <a:bodyPr/>
                    <a:lstStyle/>
                    <a:p>
                      <a:pPr>
                        <a:lnSpc>
                          <a:spcPct val="107000"/>
                        </a:lnSpc>
                        <a:spcAft>
                          <a:spcPts val="800"/>
                        </a:spcAft>
                        <a:buNone/>
                      </a:pPr>
                      <a:r>
                        <a:rPr lang="en-IN" sz="1400" b="0" kern="100">
                          <a:solidFill>
                            <a:schemeClr val="tx1"/>
                          </a:solidFill>
                          <a:effectLst/>
                        </a:rPr>
                        <a:t>Resistance(R)</a:t>
                      </a:r>
                      <a:endParaRPr lang="en-IN" sz="1100" b="0" kern="1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rPr>
                        <a:t>10 Ω</a:t>
                      </a:r>
                      <a:endParaRPr lang="en-IN"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2723474"/>
                  </a:ext>
                </a:extLst>
              </a:tr>
              <a:tr h="322972">
                <a:tc>
                  <a:txBody>
                    <a:bodyPr/>
                    <a:lstStyle/>
                    <a:p>
                      <a:pPr>
                        <a:lnSpc>
                          <a:spcPct val="107000"/>
                        </a:lnSpc>
                        <a:spcAft>
                          <a:spcPts val="800"/>
                        </a:spcAft>
                        <a:buNone/>
                      </a:pPr>
                      <a:r>
                        <a:rPr lang="en-IN" sz="1400" b="0" kern="100">
                          <a:solidFill>
                            <a:schemeClr val="tx1"/>
                          </a:solidFill>
                          <a:effectLst/>
                        </a:rPr>
                        <a:t>Frequency</a:t>
                      </a:r>
                      <a:endParaRPr lang="en-IN" sz="1100" b="0" kern="1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rPr>
                        <a:t>25 kHz</a:t>
                      </a:r>
                      <a:endParaRPr lang="en-IN"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27825915"/>
                  </a:ext>
                </a:extLst>
              </a:tr>
              <a:tr h="322972">
                <a:tc>
                  <a:txBody>
                    <a:bodyPr/>
                    <a:lstStyle/>
                    <a:p>
                      <a:pPr>
                        <a:lnSpc>
                          <a:spcPct val="107000"/>
                        </a:lnSpc>
                        <a:spcAft>
                          <a:spcPts val="800"/>
                        </a:spcAft>
                        <a:buNone/>
                      </a:pPr>
                      <a:r>
                        <a:rPr lang="en-IN" sz="1400" b="0" kern="100">
                          <a:solidFill>
                            <a:schemeClr val="tx1"/>
                          </a:solidFill>
                          <a:effectLst/>
                        </a:rPr>
                        <a:t>Duty cycle</a:t>
                      </a:r>
                      <a:endParaRPr lang="en-IN" sz="1100" b="0" kern="1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rPr>
                        <a:t>0.4</a:t>
                      </a:r>
                      <a:endParaRPr lang="en-IN"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68263041"/>
                  </a:ext>
                </a:extLst>
              </a:tr>
              <a:tr h="322972">
                <a:tc>
                  <a:txBody>
                    <a:bodyPr/>
                    <a:lstStyle/>
                    <a:p>
                      <a:pPr>
                        <a:lnSpc>
                          <a:spcPct val="107000"/>
                        </a:lnSpc>
                        <a:spcAft>
                          <a:spcPts val="800"/>
                        </a:spcAft>
                        <a:buNone/>
                      </a:pPr>
                      <a:r>
                        <a:rPr lang="en-IN" sz="1400" b="0" kern="100">
                          <a:solidFill>
                            <a:schemeClr val="tx1"/>
                          </a:solidFill>
                          <a:effectLst/>
                        </a:rPr>
                        <a:t>Kp</a:t>
                      </a:r>
                      <a:endParaRPr lang="en-IN" sz="1100" b="0" kern="1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rPr>
                        <a:t>0.1</a:t>
                      </a:r>
                      <a:endParaRPr lang="en-IN"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2465521"/>
                  </a:ext>
                </a:extLst>
              </a:tr>
              <a:tr h="322972">
                <a:tc>
                  <a:txBody>
                    <a:bodyPr/>
                    <a:lstStyle/>
                    <a:p>
                      <a:pPr>
                        <a:lnSpc>
                          <a:spcPct val="107000"/>
                        </a:lnSpc>
                        <a:spcAft>
                          <a:spcPts val="800"/>
                        </a:spcAft>
                        <a:buNone/>
                      </a:pPr>
                      <a:r>
                        <a:rPr lang="en-IN" sz="1400" b="0" kern="100">
                          <a:solidFill>
                            <a:schemeClr val="tx1"/>
                          </a:solidFill>
                          <a:effectLst/>
                        </a:rPr>
                        <a:t>Ki</a:t>
                      </a:r>
                      <a:endParaRPr lang="en-IN" sz="1100" b="0" kern="1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rPr>
                        <a:t>50</a:t>
                      </a:r>
                      <a:endParaRPr lang="en-IN"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90258430"/>
                  </a:ext>
                </a:extLst>
              </a:tr>
            </a:tbl>
          </a:graphicData>
        </a:graphic>
      </p:graphicFrame>
      <p:sp>
        <p:nvSpPr>
          <p:cNvPr id="9" name="Rectangle 1">
            <a:extLst>
              <a:ext uri="{FF2B5EF4-FFF2-40B4-BE49-F238E27FC236}">
                <a16:creationId xmlns:a16="http://schemas.microsoft.com/office/drawing/2014/main" id="{DCAECEAD-422C-8757-2C49-2FD86409E670}"/>
              </a:ext>
            </a:extLst>
          </p:cNvPr>
          <p:cNvSpPr>
            <a:spLocks noChangeArrowheads="1"/>
          </p:cNvSpPr>
          <p:nvPr/>
        </p:nvSpPr>
        <p:spPr bwMode="auto">
          <a:xfrm>
            <a:off x="6713376" y="2159325"/>
            <a:ext cx="57414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169635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B0A19F-50EC-10C6-52BD-5343A0AD1D8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15</a:t>
            </a:fld>
            <a:endParaRPr lang="en-GB"/>
          </a:p>
        </p:txBody>
      </p:sp>
      <p:sp>
        <p:nvSpPr>
          <p:cNvPr id="3" name="Title 2">
            <a:extLst>
              <a:ext uri="{FF2B5EF4-FFF2-40B4-BE49-F238E27FC236}">
                <a16:creationId xmlns:a16="http://schemas.microsoft.com/office/drawing/2014/main" id="{C35CF55E-EEE6-D28D-E582-CB36156847EE}"/>
              </a:ext>
            </a:extLst>
          </p:cNvPr>
          <p:cNvSpPr>
            <a:spLocks noGrp="1"/>
          </p:cNvSpPr>
          <p:nvPr>
            <p:ph type="title"/>
          </p:nvPr>
        </p:nvSpPr>
        <p:spPr>
          <a:xfrm>
            <a:off x="969900" y="592361"/>
            <a:ext cx="7204200" cy="531900"/>
          </a:xfrm>
        </p:spPr>
        <p:txBody>
          <a:bodyPr/>
          <a:lstStyle/>
          <a:p>
            <a:r>
              <a:rPr lang="en-IN" sz="2800"/>
              <a:t>Variation in </a:t>
            </a:r>
            <a:r>
              <a:rPr lang="en-IN" sz="2800" err="1"/>
              <a:t>Vout</a:t>
            </a:r>
            <a:r>
              <a:rPr lang="en-IN" sz="2800"/>
              <a:t> , Duty cycle </a:t>
            </a:r>
          </a:p>
        </p:txBody>
      </p:sp>
      <p:graphicFrame>
        <p:nvGraphicFramePr>
          <p:cNvPr id="5" name="Table 4">
            <a:extLst>
              <a:ext uri="{FF2B5EF4-FFF2-40B4-BE49-F238E27FC236}">
                <a16:creationId xmlns:a16="http://schemas.microsoft.com/office/drawing/2014/main" id="{052D9D56-D061-ABA5-9B6A-EC583E52D7DC}"/>
              </a:ext>
            </a:extLst>
          </p:cNvPr>
          <p:cNvGraphicFramePr>
            <a:graphicFrameLocks noGrp="1"/>
          </p:cNvGraphicFramePr>
          <p:nvPr>
            <p:extLst>
              <p:ext uri="{D42A27DB-BD31-4B8C-83A1-F6EECF244321}">
                <p14:modId xmlns:p14="http://schemas.microsoft.com/office/powerpoint/2010/main" val="2410997407"/>
              </p:ext>
            </p:extLst>
          </p:nvPr>
        </p:nvGraphicFramePr>
        <p:xfrm>
          <a:off x="969900" y="1385998"/>
          <a:ext cx="7204200" cy="1865981"/>
        </p:xfrm>
        <a:graphic>
          <a:graphicData uri="http://schemas.openxmlformats.org/drawingml/2006/table">
            <a:tbl>
              <a:tblPr firstRow="1" firstCol="1" bandRow="1">
                <a:tableStyleId>{5C22544A-7EE6-4342-B048-85BDC9FD1C3A}</a:tableStyleId>
              </a:tblPr>
              <a:tblGrid>
                <a:gridCol w="831544">
                  <a:extLst>
                    <a:ext uri="{9D8B030D-6E8A-4147-A177-3AD203B41FA5}">
                      <a16:colId xmlns:a16="http://schemas.microsoft.com/office/drawing/2014/main" val="8375117"/>
                    </a:ext>
                  </a:extLst>
                </a:gridCol>
                <a:gridCol w="1072133">
                  <a:extLst>
                    <a:ext uri="{9D8B030D-6E8A-4147-A177-3AD203B41FA5}">
                      <a16:colId xmlns:a16="http://schemas.microsoft.com/office/drawing/2014/main" val="1610172985"/>
                    </a:ext>
                  </a:extLst>
                </a:gridCol>
                <a:gridCol w="965372">
                  <a:extLst>
                    <a:ext uri="{9D8B030D-6E8A-4147-A177-3AD203B41FA5}">
                      <a16:colId xmlns:a16="http://schemas.microsoft.com/office/drawing/2014/main" val="976190748"/>
                    </a:ext>
                  </a:extLst>
                </a:gridCol>
                <a:gridCol w="2160809">
                  <a:extLst>
                    <a:ext uri="{9D8B030D-6E8A-4147-A177-3AD203B41FA5}">
                      <a16:colId xmlns:a16="http://schemas.microsoft.com/office/drawing/2014/main" val="612367225"/>
                    </a:ext>
                  </a:extLst>
                </a:gridCol>
                <a:gridCol w="2174342">
                  <a:extLst>
                    <a:ext uri="{9D8B030D-6E8A-4147-A177-3AD203B41FA5}">
                      <a16:colId xmlns:a16="http://schemas.microsoft.com/office/drawing/2014/main" val="4279665908"/>
                    </a:ext>
                  </a:extLst>
                </a:gridCol>
              </a:tblGrid>
              <a:tr h="535257">
                <a:tc>
                  <a:txBody>
                    <a:bodyPr/>
                    <a:lstStyle/>
                    <a:p>
                      <a:pPr marL="457200">
                        <a:lnSpc>
                          <a:spcPct val="107000"/>
                        </a:lnSpc>
                        <a:buNone/>
                      </a:pPr>
                      <a:r>
                        <a:rPr lang="en-IN" sz="1400" kern="100">
                          <a:solidFill>
                            <a:schemeClr val="bg2">
                              <a:lumMod val="50000"/>
                            </a:schemeClr>
                          </a:solidFill>
                          <a:effectLst/>
                        </a:rPr>
                        <a:t>Case</a:t>
                      </a:r>
                      <a:endParaRPr lang="en-IN" sz="1400" kern="10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400" kern="100">
                          <a:solidFill>
                            <a:schemeClr val="bg2">
                              <a:lumMod val="50000"/>
                            </a:schemeClr>
                          </a:solidFill>
                          <a:effectLst/>
                        </a:rPr>
                        <a:t>Kp</a:t>
                      </a:r>
                      <a:endParaRPr lang="en-IN" sz="1400" kern="10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400" kern="100">
                          <a:solidFill>
                            <a:schemeClr val="bg2">
                              <a:lumMod val="50000"/>
                            </a:schemeClr>
                          </a:solidFill>
                          <a:effectLst/>
                        </a:rPr>
                        <a:t>Ki</a:t>
                      </a:r>
                      <a:endParaRPr lang="en-IN" sz="1400" kern="10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400" kern="100">
                          <a:solidFill>
                            <a:schemeClr val="bg2">
                              <a:lumMod val="50000"/>
                            </a:schemeClr>
                          </a:solidFill>
                          <a:effectLst/>
                        </a:rPr>
                        <a:t>Vout (V)</a:t>
                      </a:r>
                      <a:endParaRPr lang="en-IN" sz="1400" kern="10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400" kern="100">
                          <a:solidFill>
                            <a:schemeClr val="bg2">
                              <a:lumMod val="50000"/>
                            </a:schemeClr>
                          </a:solidFill>
                          <a:effectLst/>
                        </a:rPr>
                        <a:t>Duty cycle</a:t>
                      </a:r>
                      <a:endParaRPr lang="en-IN" sz="1400" kern="10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extLst>
                  <a:ext uri="{0D108BD9-81ED-4DB2-BD59-A6C34878D82A}">
                    <a16:rowId xmlns:a16="http://schemas.microsoft.com/office/drawing/2014/main" val="972325794"/>
                  </a:ext>
                </a:extLst>
              </a:tr>
              <a:tr h="289932">
                <a:tc>
                  <a:txBody>
                    <a:bodyPr/>
                    <a:lstStyle/>
                    <a:p>
                      <a:pPr marL="457200">
                        <a:lnSpc>
                          <a:spcPct val="107000"/>
                        </a:lnSpc>
                        <a:buNone/>
                      </a:pPr>
                      <a:r>
                        <a:rPr lang="en-IN" sz="12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0.05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20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11.6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0.4030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extLst>
                  <a:ext uri="{0D108BD9-81ED-4DB2-BD59-A6C34878D82A}">
                    <a16:rowId xmlns:a16="http://schemas.microsoft.com/office/drawing/2014/main" val="386207754"/>
                  </a:ext>
                </a:extLst>
              </a:tr>
              <a:tr h="289931">
                <a:tc>
                  <a:txBody>
                    <a:bodyPr/>
                    <a:lstStyle/>
                    <a:p>
                      <a:pPr marL="457200">
                        <a:lnSpc>
                          <a:spcPct val="107000"/>
                        </a:lnSpc>
                        <a:buNone/>
                      </a:pPr>
                      <a:r>
                        <a:rPr lang="en-IN" sz="1200" kern="100">
                          <a:effectLst/>
                        </a:rPr>
                        <a:t>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0.1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50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12.89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0.4159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extLst>
                  <a:ext uri="{0D108BD9-81ED-4DB2-BD59-A6C34878D82A}">
                    <a16:rowId xmlns:a16="http://schemas.microsoft.com/office/drawing/2014/main" val="2458776093"/>
                  </a:ext>
                </a:extLst>
              </a:tr>
              <a:tr h="289932">
                <a:tc>
                  <a:txBody>
                    <a:bodyPr/>
                    <a:lstStyle/>
                    <a:p>
                      <a:pPr marL="457200">
                        <a:lnSpc>
                          <a:spcPct val="107000"/>
                        </a:lnSpc>
                        <a:buNone/>
                      </a:pPr>
                      <a:r>
                        <a:rPr lang="en-IN" sz="1200" kern="100">
                          <a:effectLst/>
                        </a:rPr>
                        <a:t>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0.2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60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13.1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0.4220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extLst>
                  <a:ext uri="{0D108BD9-81ED-4DB2-BD59-A6C34878D82A}">
                    <a16:rowId xmlns:a16="http://schemas.microsoft.com/office/drawing/2014/main" val="490800865"/>
                  </a:ext>
                </a:extLst>
              </a:tr>
              <a:tr h="275064">
                <a:tc>
                  <a:txBody>
                    <a:bodyPr/>
                    <a:lstStyle/>
                    <a:p>
                      <a:pPr marL="457200">
                        <a:lnSpc>
                          <a:spcPct val="107000"/>
                        </a:lnSpc>
                        <a:buNone/>
                      </a:pPr>
                      <a:r>
                        <a:rPr lang="en-IN" sz="1200" kern="100">
                          <a:effectLst/>
                        </a:rPr>
                        <a:t>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0.2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100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13.8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0.4300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extLst>
                  <a:ext uri="{0D108BD9-81ED-4DB2-BD59-A6C34878D82A}">
                    <a16:rowId xmlns:a16="http://schemas.microsoft.com/office/drawing/2014/main" val="2673005566"/>
                  </a:ext>
                </a:extLst>
              </a:tr>
              <a:tr h="0">
                <a:tc>
                  <a:txBody>
                    <a:bodyPr/>
                    <a:lstStyle/>
                    <a:p>
                      <a:pPr marL="457200">
                        <a:lnSpc>
                          <a:spcPct val="107000"/>
                        </a:lnSpc>
                        <a:buNone/>
                      </a:pPr>
                      <a:r>
                        <a:rPr lang="en-IN" sz="1200" kern="100">
                          <a:effectLst/>
                        </a:rPr>
                        <a:t>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0.3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150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Unstable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tc>
                  <a:txBody>
                    <a:bodyPr/>
                    <a:lstStyle/>
                    <a:p>
                      <a:pPr marL="457200">
                        <a:lnSpc>
                          <a:spcPct val="107000"/>
                        </a:lnSpc>
                        <a:buNone/>
                      </a:pPr>
                      <a:r>
                        <a:rPr lang="en-IN" sz="1200" kern="100">
                          <a:effectLst/>
                        </a:rPr>
                        <a:t>&gt;0.45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43241" marR="43241" marT="0" marB="0"/>
                </a:tc>
                <a:extLst>
                  <a:ext uri="{0D108BD9-81ED-4DB2-BD59-A6C34878D82A}">
                    <a16:rowId xmlns:a16="http://schemas.microsoft.com/office/drawing/2014/main" val="1328458424"/>
                  </a:ext>
                </a:extLst>
              </a:tr>
            </a:tbl>
          </a:graphicData>
        </a:graphic>
      </p:graphicFrame>
      <p:sp>
        <p:nvSpPr>
          <p:cNvPr id="6" name="TextBox 5">
            <a:extLst>
              <a:ext uri="{FF2B5EF4-FFF2-40B4-BE49-F238E27FC236}">
                <a16:creationId xmlns:a16="http://schemas.microsoft.com/office/drawing/2014/main" id="{64ECC812-5682-1E46-5A59-79FA1FDF465D}"/>
              </a:ext>
            </a:extLst>
          </p:cNvPr>
          <p:cNvSpPr txBox="1"/>
          <p:nvPr/>
        </p:nvSpPr>
        <p:spPr>
          <a:xfrm>
            <a:off x="969900" y="3442010"/>
            <a:ext cx="7204200" cy="1023935"/>
          </a:xfrm>
          <a:prstGeom prst="rect">
            <a:avLst/>
          </a:prstGeom>
          <a:noFill/>
        </p:spPr>
        <p:txBody>
          <a:bodyPr wrap="square" rtlCol="0">
            <a:spAutoFit/>
          </a:bodyPr>
          <a:lstStyle/>
          <a:p>
            <a:pPr>
              <a:lnSpc>
                <a:spcPct val="150000"/>
              </a:lnSpc>
            </a:pPr>
            <a:r>
              <a:rPr lang="en-IN">
                <a:latin typeface="Mulish" panose="020B0604020202020204" charset="0"/>
              </a:rPr>
              <a:t>Here in this table by changing the </a:t>
            </a:r>
            <a:r>
              <a:rPr lang="en-IN" err="1">
                <a:latin typeface="Mulish" panose="020B0604020202020204" charset="0"/>
              </a:rPr>
              <a:t>Kp</a:t>
            </a:r>
            <a:r>
              <a:rPr lang="en-IN">
                <a:latin typeface="Mulish" panose="020B0604020202020204" charset="0"/>
              </a:rPr>
              <a:t> and Ki values we have analysed the variations in the values of output voltage and duty  cycle and thus we use the hit and trial method to minimise the error in the output voltage in the result.</a:t>
            </a:r>
          </a:p>
        </p:txBody>
      </p:sp>
    </p:spTree>
    <p:extLst>
      <p:ext uri="{BB962C8B-B14F-4D97-AF65-F5344CB8AC3E}">
        <p14:creationId xmlns:p14="http://schemas.microsoft.com/office/powerpoint/2010/main" val="1776937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0D9033-29DC-2646-D7D3-6CC0BCE0C39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16</a:t>
            </a:fld>
            <a:endParaRPr lang="en-GB"/>
          </a:p>
        </p:txBody>
      </p:sp>
      <p:sp>
        <p:nvSpPr>
          <p:cNvPr id="3" name="Title 2">
            <a:extLst>
              <a:ext uri="{FF2B5EF4-FFF2-40B4-BE49-F238E27FC236}">
                <a16:creationId xmlns:a16="http://schemas.microsoft.com/office/drawing/2014/main" id="{8EF78BE2-97D2-16A6-2ECC-83C8DAD49086}"/>
              </a:ext>
            </a:extLst>
          </p:cNvPr>
          <p:cNvSpPr>
            <a:spLocks noGrp="1"/>
          </p:cNvSpPr>
          <p:nvPr>
            <p:ph type="title"/>
          </p:nvPr>
        </p:nvSpPr>
        <p:spPr>
          <a:xfrm>
            <a:off x="880690" y="681571"/>
            <a:ext cx="7204200" cy="531900"/>
          </a:xfrm>
        </p:spPr>
        <p:txBody>
          <a:bodyPr/>
          <a:lstStyle/>
          <a:p>
            <a:r>
              <a:rPr lang="en-IN" sz="2800"/>
              <a:t>Analysis</a:t>
            </a:r>
          </a:p>
        </p:txBody>
      </p:sp>
      <p:sp>
        <p:nvSpPr>
          <p:cNvPr id="5" name="TextBox 4">
            <a:extLst>
              <a:ext uri="{FF2B5EF4-FFF2-40B4-BE49-F238E27FC236}">
                <a16:creationId xmlns:a16="http://schemas.microsoft.com/office/drawing/2014/main" id="{96C74A46-7F46-3181-8426-0226309F7E97}"/>
              </a:ext>
            </a:extLst>
          </p:cNvPr>
          <p:cNvSpPr txBox="1"/>
          <p:nvPr/>
        </p:nvSpPr>
        <p:spPr>
          <a:xfrm>
            <a:off x="880690" y="1598341"/>
            <a:ext cx="7204200" cy="2101216"/>
          </a:xfrm>
          <a:prstGeom prst="rect">
            <a:avLst/>
          </a:prstGeom>
          <a:noFill/>
        </p:spPr>
        <p:txBody>
          <a:bodyPr wrap="square" rtlCol="0">
            <a:spAutoFit/>
          </a:bodyPr>
          <a:lstStyle/>
          <a:p>
            <a:pPr marL="285750" indent="-285750">
              <a:lnSpc>
                <a:spcPct val="107000"/>
              </a:lnSpc>
              <a:spcAft>
                <a:spcPts val="800"/>
              </a:spcAft>
              <a:buFont typeface="Arial" panose="020B0604020202020204" pitchFamily="34" charset="0"/>
              <a:buChar char="•"/>
            </a:pPr>
            <a:r>
              <a:rPr lang="en-IN">
                <a:effectLst/>
                <a:latin typeface="Mulish" panose="020B0604020202020204" charset="0"/>
                <a:ea typeface="Times New Roman" panose="02020603050405020304" pitchFamily="18" charset="0"/>
                <a:cs typeface="Times New Roman" panose="02020603050405020304" pitchFamily="18" charset="0"/>
              </a:rPr>
              <a:t>Low </a:t>
            </a:r>
            <a:r>
              <a:rPr lang="en-IN" err="1">
                <a:effectLst/>
                <a:latin typeface="Mulish" panose="020B0604020202020204" charset="0"/>
                <a:ea typeface="Times New Roman" panose="02020603050405020304" pitchFamily="18" charset="0"/>
                <a:cs typeface="Times New Roman" panose="02020603050405020304" pitchFamily="18" charset="0"/>
              </a:rPr>
              <a:t>Kp</a:t>
            </a:r>
            <a:r>
              <a:rPr lang="en-IN">
                <a:effectLst/>
                <a:latin typeface="Mulish" panose="020B0604020202020204" charset="0"/>
                <a:ea typeface="Times New Roman" panose="02020603050405020304" pitchFamily="18" charset="0"/>
                <a:cs typeface="Times New Roman" panose="02020603050405020304" pitchFamily="18" charset="0"/>
              </a:rPr>
              <a:t> and Ki (Case 1): Slow response, small steady-state error, very stable.</a:t>
            </a:r>
          </a:p>
          <a:p>
            <a:pPr marL="285750" indent="-285750">
              <a:lnSpc>
                <a:spcPct val="107000"/>
              </a:lnSpc>
              <a:spcAft>
                <a:spcPts val="800"/>
              </a:spcAft>
              <a:buFont typeface="Arial" panose="020B0604020202020204" pitchFamily="34" charset="0"/>
              <a:buChar char="•"/>
            </a:pPr>
            <a:r>
              <a:rPr lang="en-IN">
                <a:effectLst/>
                <a:latin typeface="Mulish" panose="020B0604020202020204" charset="0"/>
                <a:ea typeface="Times New Roman" panose="02020603050405020304" pitchFamily="18" charset="0"/>
                <a:cs typeface="Times New Roman" panose="02020603050405020304" pitchFamily="18" charset="0"/>
              </a:rPr>
              <a:t>Moderate </a:t>
            </a:r>
            <a:r>
              <a:rPr lang="en-IN" err="1">
                <a:effectLst/>
                <a:latin typeface="Mulish" panose="020B0604020202020204" charset="0"/>
                <a:ea typeface="Times New Roman" panose="02020603050405020304" pitchFamily="18" charset="0"/>
                <a:cs typeface="Times New Roman" panose="02020603050405020304" pitchFamily="18" charset="0"/>
              </a:rPr>
              <a:t>Kp</a:t>
            </a:r>
            <a:r>
              <a:rPr lang="en-IN">
                <a:effectLst/>
                <a:latin typeface="Mulish" panose="020B0604020202020204" charset="0"/>
                <a:ea typeface="Times New Roman" panose="02020603050405020304" pitchFamily="18" charset="0"/>
                <a:cs typeface="Times New Roman" panose="02020603050405020304" pitchFamily="18" charset="0"/>
              </a:rPr>
              <a:t> and Ki (Case 2): Faster response, small overshoot, good regulation.</a:t>
            </a:r>
          </a:p>
          <a:p>
            <a:pPr marL="285750" indent="-285750">
              <a:lnSpc>
                <a:spcPct val="107000"/>
              </a:lnSpc>
              <a:spcAft>
                <a:spcPts val="800"/>
              </a:spcAft>
              <a:buFont typeface="Arial" panose="020B0604020202020204" pitchFamily="34" charset="0"/>
              <a:buChar char="•"/>
            </a:pPr>
            <a:r>
              <a:rPr lang="en-IN">
                <a:effectLst/>
                <a:latin typeface="Mulish" panose="020B0604020202020204" charset="0"/>
                <a:ea typeface="Times New Roman" panose="02020603050405020304" pitchFamily="18" charset="0"/>
                <a:cs typeface="Times New Roman" panose="02020603050405020304" pitchFamily="18" charset="0"/>
              </a:rPr>
              <a:t>High Ki or </a:t>
            </a:r>
            <a:r>
              <a:rPr lang="en-IN" err="1">
                <a:effectLst/>
                <a:latin typeface="Mulish" panose="020B0604020202020204" charset="0"/>
                <a:ea typeface="Times New Roman" panose="02020603050405020304" pitchFamily="18" charset="0"/>
                <a:cs typeface="Times New Roman" panose="02020603050405020304" pitchFamily="18" charset="0"/>
              </a:rPr>
              <a:t>Kp</a:t>
            </a:r>
            <a:r>
              <a:rPr lang="en-IN">
                <a:effectLst/>
                <a:latin typeface="Mulish" panose="020B0604020202020204" charset="0"/>
                <a:ea typeface="Times New Roman" panose="02020603050405020304" pitchFamily="18" charset="0"/>
                <a:cs typeface="Times New Roman" panose="02020603050405020304" pitchFamily="18" charset="0"/>
              </a:rPr>
              <a:t> (Cases 3-4): Faster settling but higher overshoot and risk of instability.</a:t>
            </a:r>
          </a:p>
          <a:p>
            <a:pPr marL="285750" indent="-285750">
              <a:lnSpc>
                <a:spcPct val="107000"/>
              </a:lnSpc>
              <a:spcAft>
                <a:spcPts val="800"/>
              </a:spcAft>
              <a:buFont typeface="Arial" panose="020B0604020202020204" pitchFamily="34" charset="0"/>
              <a:buChar char="•"/>
            </a:pPr>
            <a:r>
              <a:rPr lang="en-IN">
                <a:effectLst/>
                <a:latin typeface="Mulish" panose="020B0604020202020204" charset="0"/>
                <a:ea typeface="Times New Roman" panose="02020603050405020304" pitchFamily="18" charset="0"/>
                <a:cs typeface="Times New Roman" panose="02020603050405020304" pitchFamily="18" charset="0"/>
              </a:rPr>
              <a:t>Very high </a:t>
            </a:r>
            <a:r>
              <a:rPr lang="en-IN" err="1">
                <a:effectLst/>
                <a:latin typeface="Mulish" panose="020B0604020202020204" charset="0"/>
                <a:ea typeface="Times New Roman" panose="02020603050405020304" pitchFamily="18" charset="0"/>
                <a:cs typeface="Times New Roman" panose="02020603050405020304" pitchFamily="18" charset="0"/>
              </a:rPr>
              <a:t>Kp</a:t>
            </a:r>
            <a:r>
              <a:rPr lang="en-IN">
                <a:effectLst/>
                <a:latin typeface="Mulish" panose="020B0604020202020204" charset="0"/>
                <a:ea typeface="Times New Roman" panose="02020603050405020304" pitchFamily="18" charset="0"/>
                <a:cs typeface="Times New Roman" panose="02020603050405020304" pitchFamily="18" charset="0"/>
              </a:rPr>
              <a:t> and Ki (Case 5): System becomes unstable—oscillations or divergence in output.</a:t>
            </a:r>
          </a:p>
          <a:p>
            <a:endParaRPr lang="en-IN"/>
          </a:p>
        </p:txBody>
      </p:sp>
    </p:spTree>
    <p:extLst>
      <p:ext uri="{BB962C8B-B14F-4D97-AF65-F5344CB8AC3E}">
        <p14:creationId xmlns:p14="http://schemas.microsoft.com/office/powerpoint/2010/main" val="4151433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75" name="Google Shape;375;p36"/>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GB"/>
              <a:t>17</a:t>
            </a:fld>
            <a:endParaRPr>
              <a:solidFill>
                <a:schemeClr val="dk2"/>
              </a:solidFill>
            </a:endParaRPr>
          </a:p>
        </p:txBody>
      </p:sp>
      <p:sp>
        <p:nvSpPr>
          <p:cNvPr id="7" name="Subtitle 6">
            <a:extLst>
              <a:ext uri="{FF2B5EF4-FFF2-40B4-BE49-F238E27FC236}">
                <a16:creationId xmlns:a16="http://schemas.microsoft.com/office/drawing/2014/main" id="{164683C9-45B3-25F7-AE66-460C2ED0EE9C}"/>
              </a:ext>
            </a:extLst>
          </p:cNvPr>
          <p:cNvSpPr>
            <a:spLocks noGrp="1"/>
          </p:cNvSpPr>
          <p:nvPr>
            <p:ph type="subTitle" idx="3"/>
          </p:nvPr>
        </p:nvSpPr>
        <p:spPr>
          <a:xfrm>
            <a:off x="2223600" y="545757"/>
            <a:ext cx="4696800" cy="446700"/>
          </a:xfrm>
        </p:spPr>
        <p:txBody>
          <a:bodyPr/>
          <a:lstStyle/>
          <a:p>
            <a:r>
              <a:rPr lang="en-IN" sz="2800" b="1">
                <a:solidFill>
                  <a:schemeClr val="bg2"/>
                </a:solidFill>
                <a:latin typeface="Quicksand" panose="020B0604020202020204" charset="0"/>
              </a:rPr>
              <a:t>Applications</a:t>
            </a:r>
          </a:p>
        </p:txBody>
      </p:sp>
      <p:sp>
        <p:nvSpPr>
          <p:cNvPr id="14" name="TextBox 13">
            <a:extLst>
              <a:ext uri="{FF2B5EF4-FFF2-40B4-BE49-F238E27FC236}">
                <a16:creationId xmlns:a16="http://schemas.microsoft.com/office/drawing/2014/main" id="{E9F4C8D6-2B26-3A41-F3D9-7537093E44BC}"/>
              </a:ext>
            </a:extLst>
          </p:cNvPr>
          <p:cNvSpPr txBox="1"/>
          <p:nvPr/>
        </p:nvSpPr>
        <p:spPr>
          <a:xfrm>
            <a:off x="773151" y="1338146"/>
            <a:ext cx="7634869" cy="4355680"/>
          </a:xfrm>
          <a:prstGeom prst="rect">
            <a:avLst/>
          </a:prstGeom>
          <a:noFill/>
        </p:spPr>
        <p:txBody>
          <a:bodyPr wrap="square" rtlCol="0">
            <a:spAutoFit/>
          </a:bodyPr>
          <a:lstStyle/>
          <a:p>
            <a:pPr>
              <a:lnSpc>
                <a:spcPct val="107000"/>
              </a:lnSpc>
              <a:spcAft>
                <a:spcPts val="800"/>
              </a:spcAft>
              <a:buNone/>
            </a:pPr>
            <a:r>
              <a:rPr lang="en-IN">
                <a:effectLst/>
                <a:latin typeface="Mulish" panose="020B0604020202020204" charset="0"/>
                <a:ea typeface="Times New Roman" panose="02020603050405020304" pitchFamily="18" charset="0"/>
                <a:cs typeface="Times New Roman" panose="02020603050405020304" pitchFamily="18" charset="0"/>
              </a:rPr>
              <a:t>1. Mobile and Portable Device Chargers</a:t>
            </a:r>
          </a:p>
          <a:p>
            <a:pPr>
              <a:lnSpc>
                <a:spcPct val="107000"/>
              </a:lnSpc>
              <a:spcAft>
                <a:spcPts val="800"/>
              </a:spcAft>
            </a:pPr>
            <a:r>
              <a:rPr lang="en-IN">
                <a:effectLst/>
                <a:latin typeface="Mulish" panose="020B0604020202020204" charset="0"/>
                <a:ea typeface="Times New Roman" panose="02020603050405020304" pitchFamily="18" charset="0"/>
                <a:cs typeface="Times New Roman" panose="02020603050405020304" pitchFamily="18" charset="0"/>
              </a:rPr>
              <a:t>Closed-loop buck converters with PI controllers are commonly used in mobile phone chargers, power banks, and other battery-powered devices to ensure consistent voltage supply, protect sensitive circuits, and extend battery life.</a:t>
            </a:r>
          </a:p>
          <a:p>
            <a:pPr>
              <a:lnSpc>
                <a:spcPct val="107000"/>
              </a:lnSpc>
              <a:spcAft>
                <a:spcPts val="800"/>
              </a:spcAft>
              <a:buNone/>
            </a:pPr>
            <a:r>
              <a:rPr lang="en-IN">
                <a:latin typeface="Mulish" panose="020B0604020202020204" charset="0"/>
                <a:ea typeface="Times New Roman" panose="02020603050405020304" pitchFamily="18" charset="0"/>
                <a:cs typeface="Times New Roman" panose="02020603050405020304" pitchFamily="18" charset="0"/>
              </a:rPr>
              <a:t>2</a:t>
            </a:r>
            <a:r>
              <a:rPr lang="en-IN">
                <a:effectLst/>
                <a:latin typeface="Mulish" panose="020B0604020202020204" charset="0"/>
                <a:ea typeface="Times New Roman" panose="02020603050405020304" pitchFamily="18" charset="0"/>
                <a:cs typeface="Times New Roman" panose="02020603050405020304" pitchFamily="18" charset="0"/>
              </a:rPr>
              <a:t>. Electric Vehicles (EVs)</a:t>
            </a:r>
          </a:p>
          <a:p>
            <a:pPr>
              <a:lnSpc>
                <a:spcPct val="107000"/>
              </a:lnSpc>
              <a:spcAft>
                <a:spcPts val="800"/>
              </a:spcAft>
            </a:pPr>
            <a:r>
              <a:rPr lang="en-IN">
                <a:effectLst/>
                <a:latin typeface="Mulish" panose="020B0604020202020204" charset="0"/>
                <a:ea typeface="Times New Roman" panose="02020603050405020304" pitchFamily="18" charset="0"/>
                <a:cs typeface="Times New Roman" panose="02020603050405020304" pitchFamily="18" charset="0"/>
              </a:rPr>
              <a:t>DC-DC converters with closed-loop control are critical in electric vehicles to supply stable voltage to various low-voltage systems such as lighting, instrumentation, and infotainment from high-voltage battery packs.</a:t>
            </a:r>
          </a:p>
          <a:p>
            <a:pPr>
              <a:lnSpc>
                <a:spcPct val="107000"/>
              </a:lnSpc>
              <a:spcAft>
                <a:spcPts val="800"/>
              </a:spcAft>
              <a:buNone/>
            </a:pPr>
            <a:r>
              <a:rPr lang="en-IN">
                <a:latin typeface="Mulish" panose="020B0604020202020204" charset="0"/>
                <a:ea typeface="Times New Roman" panose="02020603050405020304" pitchFamily="18" charset="0"/>
                <a:cs typeface="Times New Roman" panose="02020603050405020304" pitchFamily="18" charset="0"/>
              </a:rPr>
              <a:t>3</a:t>
            </a:r>
            <a:r>
              <a:rPr lang="en-IN">
                <a:effectLst/>
                <a:latin typeface="Mulish" panose="020B0604020202020204" charset="0"/>
                <a:ea typeface="Times New Roman" panose="02020603050405020304" pitchFamily="18" charset="0"/>
                <a:cs typeface="Times New Roman" panose="02020603050405020304" pitchFamily="18" charset="0"/>
              </a:rPr>
              <a:t>. Renewable Energy Systems</a:t>
            </a:r>
          </a:p>
          <a:p>
            <a:pPr>
              <a:lnSpc>
                <a:spcPct val="107000"/>
              </a:lnSpc>
              <a:spcAft>
                <a:spcPts val="800"/>
              </a:spcAft>
            </a:pPr>
            <a:r>
              <a:rPr lang="en-IN">
                <a:effectLst/>
                <a:latin typeface="Mulish" panose="020B0604020202020204" charset="0"/>
                <a:ea typeface="Times New Roman" panose="02020603050405020304" pitchFamily="18" charset="0"/>
                <a:cs typeface="Times New Roman" panose="02020603050405020304" pitchFamily="18" charset="0"/>
              </a:rPr>
              <a:t>In solar photovoltaic (PV) applications, buck converters are used to step down variable solar panel output voltages to usable levels for battery charging or grid-tied inverters. The PI controller ensures stable voltage despite changes in sunlight intensity or load.</a:t>
            </a:r>
          </a:p>
          <a:p>
            <a:pPr>
              <a:lnSpc>
                <a:spcPct val="107000"/>
              </a:lnSpc>
              <a:spcAft>
                <a:spcPts val="800"/>
              </a:spcAft>
            </a:pPr>
            <a:endParaRPr lang="en-IN">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endParaRPr lang="en-IN">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B43A33-C6C1-CB3E-4E8A-5A694C67C9E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smtClean="0"/>
              <a:t>18</a:t>
            </a:fld>
            <a:endParaRPr lang="en-GB"/>
          </a:p>
        </p:txBody>
      </p:sp>
      <p:sp>
        <p:nvSpPr>
          <p:cNvPr id="4" name="Subtitle 3">
            <a:extLst>
              <a:ext uri="{FF2B5EF4-FFF2-40B4-BE49-F238E27FC236}">
                <a16:creationId xmlns:a16="http://schemas.microsoft.com/office/drawing/2014/main" id="{A78BCE1F-E4D3-96B2-4736-47EA89A2EF17}"/>
              </a:ext>
            </a:extLst>
          </p:cNvPr>
          <p:cNvSpPr>
            <a:spLocks noGrp="1"/>
          </p:cNvSpPr>
          <p:nvPr>
            <p:ph type="subTitle" idx="1"/>
          </p:nvPr>
        </p:nvSpPr>
        <p:spPr>
          <a:xfrm>
            <a:off x="2141825" y="568821"/>
            <a:ext cx="4696800" cy="428700"/>
          </a:xfrm>
        </p:spPr>
        <p:txBody>
          <a:bodyPr/>
          <a:lstStyle/>
          <a:p>
            <a:r>
              <a:rPr lang="en-IN" sz="2800" b="1">
                <a:solidFill>
                  <a:schemeClr val="bg2"/>
                </a:solidFill>
                <a:latin typeface="Quicksand" panose="020B0604020202020204" charset="0"/>
              </a:rPr>
              <a:t>Conclusion</a:t>
            </a:r>
          </a:p>
        </p:txBody>
      </p:sp>
      <p:sp>
        <p:nvSpPr>
          <p:cNvPr id="10" name="TextBox 9">
            <a:extLst>
              <a:ext uri="{FF2B5EF4-FFF2-40B4-BE49-F238E27FC236}">
                <a16:creationId xmlns:a16="http://schemas.microsoft.com/office/drawing/2014/main" id="{4F4854FE-FC48-56E2-6667-629CBF9F4605}"/>
              </a:ext>
            </a:extLst>
          </p:cNvPr>
          <p:cNvSpPr txBox="1"/>
          <p:nvPr/>
        </p:nvSpPr>
        <p:spPr>
          <a:xfrm>
            <a:off x="367991" y="1160417"/>
            <a:ext cx="8408018" cy="3609258"/>
          </a:xfrm>
          <a:prstGeom prst="rect">
            <a:avLst/>
          </a:prstGeom>
          <a:noFill/>
        </p:spPr>
        <p:txBody>
          <a:bodyPr wrap="square" rtlCol="0">
            <a:spAutoFit/>
          </a:bodyPr>
          <a:lstStyle/>
          <a:p>
            <a:pPr>
              <a:lnSpc>
                <a:spcPct val="150000"/>
              </a:lnSpc>
              <a:buNone/>
            </a:pPr>
            <a:r>
              <a:rPr lang="en-US">
                <a:latin typeface="Mulish" panose="020B0604020202020204" charset="0"/>
              </a:rPr>
              <a:t>This project involved the design, simulation, and analysis of a PI-controlled closed-loop buck converter aimed at maintaining a stable 5V output under varying input and load conditions. The implementation of a Proportional-Integral (PI) controller significantly improved system stability, response time, and accuracy compared to open-loop control.</a:t>
            </a:r>
          </a:p>
          <a:p>
            <a:pPr>
              <a:lnSpc>
                <a:spcPct val="150000"/>
              </a:lnSpc>
              <a:buNone/>
            </a:pPr>
            <a:endParaRPr lang="en-US">
              <a:latin typeface="Mulish" panose="020B0604020202020204" charset="0"/>
            </a:endParaRPr>
          </a:p>
          <a:p>
            <a:pPr>
              <a:lnSpc>
                <a:spcPct val="150000"/>
              </a:lnSpc>
            </a:pPr>
            <a:r>
              <a:rPr lang="en-US">
                <a:latin typeface="Mulish" panose="020B0604020202020204" charset="0"/>
              </a:rPr>
              <a:t>Simulation results demonstrated that the converter effectively regulated the output voltage and quickly adapted to changes, confirming the benefits of PI control.</a:t>
            </a:r>
          </a:p>
          <a:p>
            <a:pPr>
              <a:lnSpc>
                <a:spcPct val="150000"/>
              </a:lnSpc>
            </a:pPr>
            <a:endParaRPr lang="en-US">
              <a:latin typeface="Mulish" panose="020B0604020202020204" charset="0"/>
            </a:endParaRPr>
          </a:p>
          <a:p>
            <a:pPr>
              <a:lnSpc>
                <a:spcPct val="150000"/>
              </a:lnSpc>
            </a:pPr>
            <a:r>
              <a:rPr lang="en-US">
                <a:latin typeface="Mulish" panose="020B0604020202020204" charset="0"/>
              </a:rPr>
              <a:t> Overall, the project highlighted the importance of closed-loop control in enhancing the efficiency and reliability of modern power electronics systems</a:t>
            </a:r>
          </a:p>
          <a:p>
            <a:pPr>
              <a:lnSpc>
                <a:spcPct val="150000"/>
              </a:lnSpc>
            </a:pPr>
            <a:endParaRPr lang="en-IN">
              <a:latin typeface="Mulish" panose="020B0604020202020204" charset="0"/>
            </a:endParaRPr>
          </a:p>
        </p:txBody>
      </p:sp>
    </p:spTree>
    <p:extLst>
      <p:ext uri="{BB962C8B-B14F-4D97-AF65-F5344CB8AC3E}">
        <p14:creationId xmlns:p14="http://schemas.microsoft.com/office/powerpoint/2010/main" val="3372187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69C48F-F642-C3E8-D4DF-A2EB9647A7E8}"/>
              </a:ext>
            </a:extLst>
          </p:cNvPr>
          <p:cNvSpPr>
            <a:spLocks noGrp="1"/>
          </p:cNvSpPr>
          <p:nvPr>
            <p:ph type="title"/>
          </p:nvPr>
        </p:nvSpPr>
        <p:spPr>
          <a:xfrm>
            <a:off x="1952338" y="2241191"/>
            <a:ext cx="5107259" cy="609121"/>
          </a:xfrm>
        </p:spPr>
        <p:txBody>
          <a:bodyPr/>
          <a:lstStyle/>
          <a:p>
            <a:r>
              <a:rPr lang="en-IN" sz="6000"/>
              <a:t>THANK YOU !</a:t>
            </a:r>
          </a:p>
        </p:txBody>
      </p:sp>
      <p:grpSp>
        <p:nvGrpSpPr>
          <p:cNvPr id="5" name="Google Shape;7803;p65">
            <a:extLst>
              <a:ext uri="{FF2B5EF4-FFF2-40B4-BE49-F238E27FC236}">
                <a16:creationId xmlns:a16="http://schemas.microsoft.com/office/drawing/2014/main" id="{241F088B-A72A-672F-2B49-6563C8900F36}"/>
              </a:ext>
            </a:extLst>
          </p:cNvPr>
          <p:cNvGrpSpPr/>
          <p:nvPr/>
        </p:nvGrpSpPr>
        <p:grpSpPr>
          <a:xfrm>
            <a:off x="1349270" y="4372868"/>
            <a:ext cx="1182276" cy="662027"/>
            <a:chOff x="2029517" y="1732295"/>
            <a:chExt cx="1149068" cy="643432"/>
          </a:xfrm>
        </p:grpSpPr>
        <p:grpSp>
          <p:nvGrpSpPr>
            <p:cNvPr id="6" name="Google Shape;7804;p65">
              <a:extLst>
                <a:ext uri="{FF2B5EF4-FFF2-40B4-BE49-F238E27FC236}">
                  <a16:creationId xmlns:a16="http://schemas.microsoft.com/office/drawing/2014/main" id="{E0343EF5-4755-BBE6-C0D5-71EC31C9791C}"/>
                </a:ext>
              </a:extLst>
            </p:cNvPr>
            <p:cNvGrpSpPr/>
            <p:nvPr/>
          </p:nvGrpSpPr>
          <p:grpSpPr>
            <a:xfrm>
              <a:off x="2708660" y="1746937"/>
              <a:ext cx="455427" cy="244429"/>
              <a:chOff x="2700693" y="1746937"/>
              <a:chExt cx="455427" cy="244429"/>
            </a:xfrm>
          </p:grpSpPr>
          <p:grpSp>
            <p:nvGrpSpPr>
              <p:cNvPr id="23" name="Google Shape;7805;p65">
                <a:extLst>
                  <a:ext uri="{FF2B5EF4-FFF2-40B4-BE49-F238E27FC236}">
                    <a16:creationId xmlns:a16="http://schemas.microsoft.com/office/drawing/2014/main" id="{B1592BC8-D7AF-C125-B360-42B683DA93C4}"/>
                  </a:ext>
                </a:extLst>
              </p:cNvPr>
              <p:cNvGrpSpPr/>
              <p:nvPr/>
            </p:nvGrpSpPr>
            <p:grpSpPr>
              <a:xfrm>
                <a:off x="2905682" y="1782817"/>
                <a:ext cx="250438" cy="208549"/>
                <a:chOff x="2905682" y="1782817"/>
                <a:chExt cx="250438" cy="208549"/>
              </a:xfrm>
            </p:grpSpPr>
            <p:cxnSp>
              <p:nvCxnSpPr>
                <p:cNvPr id="27" name="Google Shape;7806;p65">
                  <a:extLst>
                    <a:ext uri="{FF2B5EF4-FFF2-40B4-BE49-F238E27FC236}">
                      <a16:creationId xmlns:a16="http://schemas.microsoft.com/office/drawing/2014/main" id="{6FE87AF5-D55A-418C-BBE5-5BBAD1FB3294}"/>
                    </a:ext>
                  </a:extLst>
                </p:cNvPr>
                <p:cNvCxnSpPr/>
                <p:nvPr/>
              </p:nvCxnSpPr>
              <p:spPr>
                <a:xfrm rot="-5400000" flipH="1">
                  <a:off x="2905682" y="1782817"/>
                  <a:ext cx="175200" cy="1752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28" name="Google Shape;7807;p65">
                  <a:extLst>
                    <a:ext uri="{FF2B5EF4-FFF2-40B4-BE49-F238E27FC236}">
                      <a16:creationId xmlns:a16="http://schemas.microsoft.com/office/drawing/2014/main" id="{290A343C-5CE8-2B9C-C509-86EEC893689D}"/>
                    </a:ext>
                  </a:extLst>
                </p:cNvPr>
                <p:cNvSpPr/>
                <p:nvPr/>
              </p:nvSpPr>
              <p:spPr>
                <a:xfrm>
                  <a:off x="3078213" y="1919045"/>
                  <a:ext cx="77906" cy="72321"/>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7808;p65">
                <a:extLst>
                  <a:ext uri="{FF2B5EF4-FFF2-40B4-BE49-F238E27FC236}">
                    <a16:creationId xmlns:a16="http://schemas.microsoft.com/office/drawing/2014/main" id="{83CC1CF7-07CC-9E9E-0D3C-CD7555EB6776}"/>
                  </a:ext>
                </a:extLst>
              </p:cNvPr>
              <p:cNvGrpSpPr/>
              <p:nvPr/>
            </p:nvGrpSpPr>
            <p:grpSpPr>
              <a:xfrm>
                <a:off x="2700693" y="1746937"/>
                <a:ext cx="449967" cy="72374"/>
                <a:chOff x="2700693" y="1746937"/>
                <a:chExt cx="449967" cy="72374"/>
              </a:xfrm>
            </p:grpSpPr>
            <p:cxnSp>
              <p:nvCxnSpPr>
                <p:cNvPr id="25" name="Google Shape;7809;p65">
                  <a:extLst>
                    <a:ext uri="{FF2B5EF4-FFF2-40B4-BE49-F238E27FC236}">
                      <a16:creationId xmlns:a16="http://schemas.microsoft.com/office/drawing/2014/main" id="{B5FC7467-159E-D74A-5387-050FF0F6AE8F}"/>
                    </a:ext>
                  </a:extLst>
                </p:cNvPr>
                <p:cNvCxnSpPr/>
                <p:nvPr/>
              </p:nvCxnSpPr>
              <p:spPr>
                <a:xfrm>
                  <a:off x="2700693" y="1782453"/>
                  <a:ext cx="379800" cy="6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26" name="Google Shape;7810;p65">
                  <a:extLst>
                    <a:ext uri="{FF2B5EF4-FFF2-40B4-BE49-F238E27FC236}">
                      <a16:creationId xmlns:a16="http://schemas.microsoft.com/office/drawing/2014/main" id="{801B3433-E44E-1387-C31C-7C8B252E9005}"/>
                    </a:ext>
                  </a:extLst>
                </p:cNvPr>
                <p:cNvSpPr/>
                <p:nvPr/>
              </p:nvSpPr>
              <p:spPr>
                <a:xfrm>
                  <a:off x="3072753" y="1746937"/>
                  <a:ext cx="77906" cy="72374"/>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 name="Google Shape;7811;p65">
              <a:extLst>
                <a:ext uri="{FF2B5EF4-FFF2-40B4-BE49-F238E27FC236}">
                  <a16:creationId xmlns:a16="http://schemas.microsoft.com/office/drawing/2014/main" id="{7E0ECCC8-0DFD-FD84-3247-C0C29DD68142}"/>
                </a:ext>
              </a:extLst>
            </p:cNvPr>
            <p:cNvGrpSpPr/>
            <p:nvPr/>
          </p:nvGrpSpPr>
          <p:grpSpPr>
            <a:xfrm>
              <a:off x="2029517" y="1732295"/>
              <a:ext cx="1149068" cy="643432"/>
              <a:chOff x="2029517" y="1732295"/>
              <a:chExt cx="1149068" cy="643432"/>
            </a:xfrm>
          </p:grpSpPr>
          <p:grpSp>
            <p:nvGrpSpPr>
              <p:cNvPr id="8" name="Google Shape;7812;p65">
                <a:extLst>
                  <a:ext uri="{FF2B5EF4-FFF2-40B4-BE49-F238E27FC236}">
                    <a16:creationId xmlns:a16="http://schemas.microsoft.com/office/drawing/2014/main" id="{AD49DA28-9529-61DE-DBCD-35911F7B77E4}"/>
                  </a:ext>
                </a:extLst>
              </p:cNvPr>
              <p:cNvGrpSpPr/>
              <p:nvPr/>
            </p:nvGrpSpPr>
            <p:grpSpPr>
              <a:xfrm>
                <a:off x="2703618" y="2103152"/>
                <a:ext cx="474966" cy="260017"/>
                <a:chOff x="2703618" y="2103152"/>
                <a:chExt cx="474966" cy="260017"/>
              </a:xfrm>
            </p:grpSpPr>
            <p:grpSp>
              <p:nvGrpSpPr>
                <p:cNvPr id="17" name="Google Shape;7813;p65">
                  <a:extLst>
                    <a:ext uri="{FF2B5EF4-FFF2-40B4-BE49-F238E27FC236}">
                      <a16:creationId xmlns:a16="http://schemas.microsoft.com/office/drawing/2014/main" id="{0F3C529E-B209-04D3-AED7-D3463230FA58}"/>
                    </a:ext>
                  </a:extLst>
                </p:cNvPr>
                <p:cNvGrpSpPr/>
                <p:nvPr/>
              </p:nvGrpSpPr>
              <p:grpSpPr>
                <a:xfrm>
                  <a:off x="2703618" y="2290640"/>
                  <a:ext cx="450291" cy="72529"/>
                  <a:chOff x="2703618" y="2290640"/>
                  <a:chExt cx="450291" cy="72529"/>
                </a:xfrm>
              </p:grpSpPr>
              <p:cxnSp>
                <p:nvCxnSpPr>
                  <p:cNvPr id="21" name="Google Shape;7814;p65">
                    <a:extLst>
                      <a:ext uri="{FF2B5EF4-FFF2-40B4-BE49-F238E27FC236}">
                        <a16:creationId xmlns:a16="http://schemas.microsoft.com/office/drawing/2014/main" id="{B9EC9295-C9B1-321A-A4FA-9F6E9E53B14A}"/>
                      </a:ext>
                    </a:extLst>
                  </p:cNvPr>
                  <p:cNvCxnSpPr/>
                  <p:nvPr/>
                </p:nvCxnSpPr>
                <p:spPr>
                  <a:xfrm>
                    <a:off x="2703618" y="2326818"/>
                    <a:ext cx="379800" cy="6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22" name="Google Shape;7815;p65">
                    <a:extLst>
                      <a:ext uri="{FF2B5EF4-FFF2-40B4-BE49-F238E27FC236}">
                        <a16:creationId xmlns:a16="http://schemas.microsoft.com/office/drawing/2014/main" id="{5E5B3C30-F4CF-504F-C5AA-79F32504F7E5}"/>
                      </a:ext>
                    </a:extLst>
                  </p:cNvPr>
                  <p:cNvSpPr/>
                  <p:nvPr/>
                </p:nvSpPr>
                <p:spPr>
                  <a:xfrm>
                    <a:off x="3076003" y="2290640"/>
                    <a:ext cx="77906" cy="72529"/>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7816;p65">
                  <a:extLst>
                    <a:ext uri="{FF2B5EF4-FFF2-40B4-BE49-F238E27FC236}">
                      <a16:creationId xmlns:a16="http://schemas.microsoft.com/office/drawing/2014/main" id="{12CA0B2E-A0B5-04EF-0235-CF81A2EF23B6}"/>
                    </a:ext>
                  </a:extLst>
                </p:cNvPr>
                <p:cNvGrpSpPr/>
                <p:nvPr/>
              </p:nvGrpSpPr>
              <p:grpSpPr>
                <a:xfrm>
                  <a:off x="2908607" y="2103152"/>
                  <a:ext cx="269977" cy="223538"/>
                  <a:chOff x="2908607" y="2103152"/>
                  <a:chExt cx="269977" cy="223538"/>
                </a:xfrm>
              </p:grpSpPr>
              <p:cxnSp>
                <p:nvCxnSpPr>
                  <p:cNvPr id="19" name="Google Shape;7817;p65">
                    <a:extLst>
                      <a:ext uri="{FF2B5EF4-FFF2-40B4-BE49-F238E27FC236}">
                        <a16:creationId xmlns:a16="http://schemas.microsoft.com/office/drawing/2014/main" id="{9DA87F79-F55E-AE75-548B-660D1183BD07}"/>
                      </a:ext>
                    </a:extLst>
                  </p:cNvPr>
                  <p:cNvCxnSpPr/>
                  <p:nvPr/>
                </p:nvCxnSpPr>
                <p:spPr>
                  <a:xfrm rot="10800000" flipH="1">
                    <a:off x="2908607" y="2140990"/>
                    <a:ext cx="199800" cy="1857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20" name="Google Shape;7818;p65">
                    <a:extLst>
                      <a:ext uri="{FF2B5EF4-FFF2-40B4-BE49-F238E27FC236}">
                        <a16:creationId xmlns:a16="http://schemas.microsoft.com/office/drawing/2014/main" id="{CA791C98-6627-1E50-DD11-37A9ED6D329B}"/>
                      </a:ext>
                    </a:extLst>
                  </p:cNvPr>
                  <p:cNvSpPr/>
                  <p:nvPr/>
                </p:nvSpPr>
                <p:spPr>
                  <a:xfrm>
                    <a:off x="3100678" y="2103152"/>
                    <a:ext cx="77906" cy="72368"/>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 name="Google Shape;7819;p65">
                <a:extLst>
                  <a:ext uri="{FF2B5EF4-FFF2-40B4-BE49-F238E27FC236}">
                    <a16:creationId xmlns:a16="http://schemas.microsoft.com/office/drawing/2014/main" id="{11C85425-DD93-E723-1429-6537A68EC52F}"/>
                  </a:ext>
                </a:extLst>
              </p:cNvPr>
              <p:cNvGrpSpPr/>
              <p:nvPr/>
            </p:nvGrpSpPr>
            <p:grpSpPr>
              <a:xfrm>
                <a:off x="2029517" y="1732295"/>
                <a:ext cx="685827" cy="643432"/>
                <a:chOff x="2029517" y="1732295"/>
                <a:chExt cx="685827" cy="643432"/>
              </a:xfrm>
            </p:grpSpPr>
            <p:sp>
              <p:nvSpPr>
                <p:cNvPr id="10" name="Google Shape;7820;p65">
                  <a:extLst>
                    <a:ext uri="{FF2B5EF4-FFF2-40B4-BE49-F238E27FC236}">
                      <a16:creationId xmlns:a16="http://schemas.microsoft.com/office/drawing/2014/main" id="{D8BE2FF5-73AC-AE20-F1CA-211AE5EF0034}"/>
                    </a:ext>
                  </a:extLst>
                </p:cNvPr>
                <p:cNvSpPr/>
                <p:nvPr/>
              </p:nvSpPr>
              <p:spPr>
                <a:xfrm>
                  <a:off x="2029517" y="1996395"/>
                  <a:ext cx="135152" cy="135374"/>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7821;p65">
                  <a:extLst>
                    <a:ext uri="{FF2B5EF4-FFF2-40B4-BE49-F238E27FC236}">
                      <a16:creationId xmlns:a16="http://schemas.microsoft.com/office/drawing/2014/main" id="{8C938DDF-3B49-4342-C10C-E5468FC59426}"/>
                    </a:ext>
                  </a:extLst>
                </p:cNvPr>
                <p:cNvGrpSpPr/>
                <p:nvPr/>
              </p:nvGrpSpPr>
              <p:grpSpPr>
                <a:xfrm>
                  <a:off x="2158948" y="1732295"/>
                  <a:ext cx="556396" cy="333108"/>
                  <a:chOff x="2158948" y="1732295"/>
                  <a:chExt cx="556396" cy="333108"/>
                </a:xfrm>
              </p:grpSpPr>
              <p:cxnSp>
                <p:nvCxnSpPr>
                  <p:cNvPr id="15" name="Google Shape;7822;p65">
                    <a:extLst>
                      <a:ext uri="{FF2B5EF4-FFF2-40B4-BE49-F238E27FC236}">
                        <a16:creationId xmlns:a16="http://schemas.microsoft.com/office/drawing/2014/main" id="{409A9363-D2AD-7C7A-41E6-65F54DEA978B}"/>
                      </a:ext>
                    </a:extLst>
                  </p:cNvPr>
                  <p:cNvCxnSpPr/>
                  <p:nvPr/>
                </p:nvCxnSpPr>
                <p:spPr>
                  <a:xfrm rot="10800000" flipH="1">
                    <a:off x="2158948" y="1783103"/>
                    <a:ext cx="459000" cy="2823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16" name="Google Shape;7823;p65">
                    <a:extLst>
                      <a:ext uri="{FF2B5EF4-FFF2-40B4-BE49-F238E27FC236}">
                        <a16:creationId xmlns:a16="http://schemas.microsoft.com/office/drawing/2014/main" id="{FF0E05B6-F0E8-7821-C369-DB86A02C73DE}"/>
                      </a:ext>
                    </a:extLst>
                  </p:cNvPr>
                  <p:cNvSpPr/>
                  <p:nvPr/>
                </p:nvSpPr>
                <p:spPr>
                  <a:xfrm>
                    <a:off x="2612072" y="1732295"/>
                    <a:ext cx="103272" cy="100095"/>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7824;p65">
                  <a:extLst>
                    <a:ext uri="{FF2B5EF4-FFF2-40B4-BE49-F238E27FC236}">
                      <a16:creationId xmlns:a16="http://schemas.microsoft.com/office/drawing/2014/main" id="{5AAE8083-123A-9E28-520A-2601B030917A}"/>
                    </a:ext>
                  </a:extLst>
                </p:cNvPr>
                <p:cNvGrpSpPr/>
                <p:nvPr/>
              </p:nvGrpSpPr>
              <p:grpSpPr>
                <a:xfrm>
                  <a:off x="2159908" y="2065057"/>
                  <a:ext cx="550884" cy="310670"/>
                  <a:chOff x="2159908" y="2065057"/>
                  <a:chExt cx="550884" cy="310670"/>
                </a:xfrm>
              </p:grpSpPr>
              <p:cxnSp>
                <p:nvCxnSpPr>
                  <p:cNvPr id="13" name="Google Shape;7825;p65">
                    <a:extLst>
                      <a:ext uri="{FF2B5EF4-FFF2-40B4-BE49-F238E27FC236}">
                        <a16:creationId xmlns:a16="http://schemas.microsoft.com/office/drawing/2014/main" id="{4078CF37-2280-E9F0-BC6E-C2EB88E91620}"/>
                      </a:ext>
                    </a:extLst>
                  </p:cNvPr>
                  <p:cNvCxnSpPr/>
                  <p:nvPr/>
                </p:nvCxnSpPr>
                <p:spPr>
                  <a:xfrm>
                    <a:off x="2159908" y="2065057"/>
                    <a:ext cx="454500" cy="2622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14" name="Google Shape;7826;p65">
                    <a:extLst>
                      <a:ext uri="{FF2B5EF4-FFF2-40B4-BE49-F238E27FC236}">
                        <a16:creationId xmlns:a16="http://schemas.microsoft.com/office/drawing/2014/main" id="{A3F944F3-4E60-5004-5D02-D6108051470D}"/>
                      </a:ext>
                    </a:extLst>
                  </p:cNvPr>
                  <p:cNvSpPr/>
                  <p:nvPr/>
                </p:nvSpPr>
                <p:spPr>
                  <a:xfrm>
                    <a:off x="2607514" y="2275632"/>
                    <a:ext cx="103279" cy="100095"/>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29" name="Google Shape;7803;p65">
            <a:extLst>
              <a:ext uri="{FF2B5EF4-FFF2-40B4-BE49-F238E27FC236}">
                <a16:creationId xmlns:a16="http://schemas.microsoft.com/office/drawing/2014/main" id="{3DB1DE61-1AFA-FFB3-8BCA-602FC5DDAE92}"/>
              </a:ext>
            </a:extLst>
          </p:cNvPr>
          <p:cNvGrpSpPr/>
          <p:nvPr/>
        </p:nvGrpSpPr>
        <p:grpSpPr>
          <a:xfrm rot="10800000">
            <a:off x="6550046" y="273145"/>
            <a:ext cx="1182276" cy="662027"/>
            <a:chOff x="2029517" y="1732295"/>
            <a:chExt cx="1149068" cy="643432"/>
          </a:xfrm>
        </p:grpSpPr>
        <p:grpSp>
          <p:nvGrpSpPr>
            <p:cNvPr id="30" name="Google Shape;7804;p65">
              <a:extLst>
                <a:ext uri="{FF2B5EF4-FFF2-40B4-BE49-F238E27FC236}">
                  <a16:creationId xmlns:a16="http://schemas.microsoft.com/office/drawing/2014/main" id="{1AD92990-AC8E-9F3D-E2CF-EDCAEF099DAD}"/>
                </a:ext>
              </a:extLst>
            </p:cNvPr>
            <p:cNvGrpSpPr/>
            <p:nvPr/>
          </p:nvGrpSpPr>
          <p:grpSpPr>
            <a:xfrm>
              <a:off x="2708660" y="1746937"/>
              <a:ext cx="455427" cy="244429"/>
              <a:chOff x="2700693" y="1746937"/>
              <a:chExt cx="455427" cy="244429"/>
            </a:xfrm>
          </p:grpSpPr>
          <p:grpSp>
            <p:nvGrpSpPr>
              <p:cNvPr id="47" name="Google Shape;7805;p65">
                <a:extLst>
                  <a:ext uri="{FF2B5EF4-FFF2-40B4-BE49-F238E27FC236}">
                    <a16:creationId xmlns:a16="http://schemas.microsoft.com/office/drawing/2014/main" id="{160F6FF3-D3DE-08C4-F9BF-AD25DAA2A18F}"/>
                  </a:ext>
                </a:extLst>
              </p:cNvPr>
              <p:cNvGrpSpPr/>
              <p:nvPr/>
            </p:nvGrpSpPr>
            <p:grpSpPr>
              <a:xfrm>
                <a:off x="2905682" y="1782817"/>
                <a:ext cx="250438" cy="208549"/>
                <a:chOff x="2905682" y="1782817"/>
                <a:chExt cx="250438" cy="208549"/>
              </a:xfrm>
            </p:grpSpPr>
            <p:cxnSp>
              <p:nvCxnSpPr>
                <p:cNvPr id="51" name="Google Shape;7806;p65">
                  <a:extLst>
                    <a:ext uri="{FF2B5EF4-FFF2-40B4-BE49-F238E27FC236}">
                      <a16:creationId xmlns:a16="http://schemas.microsoft.com/office/drawing/2014/main" id="{711A2784-C354-E787-3C96-03B71587BDEF}"/>
                    </a:ext>
                  </a:extLst>
                </p:cNvPr>
                <p:cNvCxnSpPr/>
                <p:nvPr/>
              </p:nvCxnSpPr>
              <p:spPr>
                <a:xfrm rot="-5400000" flipH="1">
                  <a:off x="2905682" y="1782817"/>
                  <a:ext cx="175200" cy="1752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52" name="Google Shape;7807;p65">
                  <a:extLst>
                    <a:ext uri="{FF2B5EF4-FFF2-40B4-BE49-F238E27FC236}">
                      <a16:creationId xmlns:a16="http://schemas.microsoft.com/office/drawing/2014/main" id="{D553072C-1084-6ED5-75F6-31875BB2AD4D}"/>
                    </a:ext>
                  </a:extLst>
                </p:cNvPr>
                <p:cNvSpPr/>
                <p:nvPr/>
              </p:nvSpPr>
              <p:spPr>
                <a:xfrm>
                  <a:off x="3078213" y="1919045"/>
                  <a:ext cx="77906" cy="72321"/>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7808;p65">
                <a:extLst>
                  <a:ext uri="{FF2B5EF4-FFF2-40B4-BE49-F238E27FC236}">
                    <a16:creationId xmlns:a16="http://schemas.microsoft.com/office/drawing/2014/main" id="{40DE6DB1-D8A4-D892-BF55-1D7122FE6788}"/>
                  </a:ext>
                </a:extLst>
              </p:cNvPr>
              <p:cNvGrpSpPr/>
              <p:nvPr/>
            </p:nvGrpSpPr>
            <p:grpSpPr>
              <a:xfrm>
                <a:off x="2700693" y="1746937"/>
                <a:ext cx="449967" cy="72374"/>
                <a:chOff x="2700693" y="1746937"/>
                <a:chExt cx="449967" cy="72374"/>
              </a:xfrm>
            </p:grpSpPr>
            <p:cxnSp>
              <p:nvCxnSpPr>
                <p:cNvPr id="49" name="Google Shape;7809;p65">
                  <a:extLst>
                    <a:ext uri="{FF2B5EF4-FFF2-40B4-BE49-F238E27FC236}">
                      <a16:creationId xmlns:a16="http://schemas.microsoft.com/office/drawing/2014/main" id="{80C315A7-75CB-1866-435F-7607D6A82055}"/>
                    </a:ext>
                  </a:extLst>
                </p:cNvPr>
                <p:cNvCxnSpPr/>
                <p:nvPr/>
              </p:nvCxnSpPr>
              <p:spPr>
                <a:xfrm>
                  <a:off x="2700693" y="1782453"/>
                  <a:ext cx="379800" cy="6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50" name="Google Shape;7810;p65">
                  <a:extLst>
                    <a:ext uri="{FF2B5EF4-FFF2-40B4-BE49-F238E27FC236}">
                      <a16:creationId xmlns:a16="http://schemas.microsoft.com/office/drawing/2014/main" id="{3F4380BD-5BF2-2341-77BE-EA357DE0B56F}"/>
                    </a:ext>
                  </a:extLst>
                </p:cNvPr>
                <p:cNvSpPr/>
                <p:nvPr/>
              </p:nvSpPr>
              <p:spPr>
                <a:xfrm>
                  <a:off x="3072753" y="1746937"/>
                  <a:ext cx="77906" cy="72374"/>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 name="Google Shape;7811;p65">
              <a:extLst>
                <a:ext uri="{FF2B5EF4-FFF2-40B4-BE49-F238E27FC236}">
                  <a16:creationId xmlns:a16="http://schemas.microsoft.com/office/drawing/2014/main" id="{381A7111-46A1-B09A-D4EB-FEDD6E838B17}"/>
                </a:ext>
              </a:extLst>
            </p:cNvPr>
            <p:cNvGrpSpPr/>
            <p:nvPr/>
          </p:nvGrpSpPr>
          <p:grpSpPr>
            <a:xfrm>
              <a:off x="2029517" y="1732295"/>
              <a:ext cx="1149068" cy="643432"/>
              <a:chOff x="2029517" y="1732295"/>
              <a:chExt cx="1149068" cy="643432"/>
            </a:xfrm>
          </p:grpSpPr>
          <p:grpSp>
            <p:nvGrpSpPr>
              <p:cNvPr id="32" name="Google Shape;7812;p65">
                <a:extLst>
                  <a:ext uri="{FF2B5EF4-FFF2-40B4-BE49-F238E27FC236}">
                    <a16:creationId xmlns:a16="http://schemas.microsoft.com/office/drawing/2014/main" id="{E3DFF51E-B256-14B7-17CD-A98D6EF0A4BF}"/>
                  </a:ext>
                </a:extLst>
              </p:cNvPr>
              <p:cNvGrpSpPr/>
              <p:nvPr/>
            </p:nvGrpSpPr>
            <p:grpSpPr>
              <a:xfrm>
                <a:off x="2703618" y="2103152"/>
                <a:ext cx="474966" cy="260017"/>
                <a:chOff x="2703618" y="2103152"/>
                <a:chExt cx="474966" cy="260017"/>
              </a:xfrm>
            </p:grpSpPr>
            <p:grpSp>
              <p:nvGrpSpPr>
                <p:cNvPr id="41" name="Google Shape;7813;p65">
                  <a:extLst>
                    <a:ext uri="{FF2B5EF4-FFF2-40B4-BE49-F238E27FC236}">
                      <a16:creationId xmlns:a16="http://schemas.microsoft.com/office/drawing/2014/main" id="{6571C816-A867-BC22-8DEE-2567939083E0}"/>
                    </a:ext>
                  </a:extLst>
                </p:cNvPr>
                <p:cNvGrpSpPr/>
                <p:nvPr/>
              </p:nvGrpSpPr>
              <p:grpSpPr>
                <a:xfrm>
                  <a:off x="2703618" y="2290640"/>
                  <a:ext cx="450291" cy="72529"/>
                  <a:chOff x="2703618" y="2290640"/>
                  <a:chExt cx="450291" cy="72529"/>
                </a:xfrm>
              </p:grpSpPr>
              <p:cxnSp>
                <p:nvCxnSpPr>
                  <p:cNvPr id="45" name="Google Shape;7814;p65">
                    <a:extLst>
                      <a:ext uri="{FF2B5EF4-FFF2-40B4-BE49-F238E27FC236}">
                        <a16:creationId xmlns:a16="http://schemas.microsoft.com/office/drawing/2014/main" id="{7CECA4BF-5EC6-95CD-D993-F125DA127E61}"/>
                      </a:ext>
                    </a:extLst>
                  </p:cNvPr>
                  <p:cNvCxnSpPr/>
                  <p:nvPr/>
                </p:nvCxnSpPr>
                <p:spPr>
                  <a:xfrm>
                    <a:off x="2703618" y="2326818"/>
                    <a:ext cx="379800" cy="6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46" name="Google Shape;7815;p65">
                    <a:extLst>
                      <a:ext uri="{FF2B5EF4-FFF2-40B4-BE49-F238E27FC236}">
                        <a16:creationId xmlns:a16="http://schemas.microsoft.com/office/drawing/2014/main" id="{3D5C9591-F47A-787D-52E8-5668D16FF9F4}"/>
                      </a:ext>
                    </a:extLst>
                  </p:cNvPr>
                  <p:cNvSpPr/>
                  <p:nvPr/>
                </p:nvSpPr>
                <p:spPr>
                  <a:xfrm>
                    <a:off x="3076003" y="2290640"/>
                    <a:ext cx="77906" cy="72529"/>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7816;p65">
                  <a:extLst>
                    <a:ext uri="{FF2B5EF4-FFF2-40B4-BE49-F238E27FC236}">
                      <a16:creationId xmlns:a16="http://schemas.microsoft.com/office/drawing/2014/main" id="{D8A9D446-4A5F-0FF8-829A-8BDAD492FABD}"/>
                    </a:ext>
                  </a:extLst>
                </p:cNvPr>
                <p:cNvGrpSpPr/>
                <p:nvPr/>
              </p:nvGrpSpPr>
              <p:grpSpPr>
                <a:xfrm>
                  <a:off x="2908607" y="2103152"/>
                  <a:ext cx="269977" cy="223538"/>
                  <a:chOff x="2908607" y="2103152"/>
                  <a:chExt cx="269977" cy="223538"/>
                </a:xfrm>
              </p:grpSpPr>
              <p:cxnSp>
                <p:nvCxnSpPr>
                  <p:cNvPr id="43" name="Google Shape;7817;p65">
                    <a:extLst>
                      <a:ext uri="{FF2B5EF4-FFF2-40B4-BE49-F238E27FC236}">
                        <a16:creationId xmlns:a16="http://schemas.microsoft.com/office/drawing/2014/main" id="{0083CF8B-4268-BF89-5FFC-C5F0B3F60B25}"/>
                      </a:ext>
                    </a:extLst>
                  </p:cNvPr>
                  <p:cNvCxnSpPr/>
                  <p:nvPr/>
                </p:nvCxnSpPr>
                <p:spPr>
                  <a:xfrm rot="10800000" flipH="1">
                    <a:off x="2908607" y="2140990"/>
                    <a:ext cx="199800" cy="1857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44" name="Google Shape;7818;p65">
                    <a:extLst>
                      <a:ext uri="{FF2B5EF4-FFF2-40B4-BE49-F238E27FC236}">
                        <a16:creationId xmlns:a16="http://schemas.microsoft.com/office/drawing/2014/main" id="{3286B62C-7BDF-2053-6D48-CC9E1A4196BC}"/>
                      </a:ext>
                    </a:extLst>
                  </p:cNvPr>
                  <p:cNvSpPr/>
                  <p:nvPr/>
                </p:nvSpPr>
                <p:spPr>
                  <a:xfrm>
                    <a:off x="3100678" y="2103152"/>
                    <a:ext cx="77906" cy="72368"/>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7819;p65">
                <a:extLst>
                  <a:ext uri="{FF2B5EF4-FFF2-40B4-BE49-F238E27FC236}">
                    <a16:creationId xmlns:a16="http://schemas.microsoft.com/office/drawing/2014/main" id="{CAA5FC18-1EE0-66CB-6DAB-7D73420A49B3}"/>
                  </a:ext>
                </a:extLst>
              </p:cNvPr>
              <p:cNvGrpSpPr/>
              <p:nvPr/>
            </p:nvGrpSpPr>
            <p:grpSpPr>
              <a:xfrm>
                <a:off x="2029517" y="1732295"/>
                <a:ext cx="685827" cy="643432"/>
                <a:chOff x="2029517" y="1732295"/>
                <a:chExt cx="685827" cy="643432"/>
              </a:xfrm>
            </p:grpSpPr>
            <p:sp>
              <p:nvSpPr>
                <p:cNvPr id="34" name="Google Shape;7820;p65">
                  <a:extLst>
                    <a:ext uri="{FF2B5EF4-FFF2-40B4-BE49-F238E27FC236}">
                      <a16:creationId xmlns:a16="http://schemas.microsoft.com/office/drawing/2014/main" id="{19306FEF-FF20-48DA-9570-F93DC5121038}"/>
                    </a:ext>
                  </a:extLst>
                </p:cNvPr>
                <p:cNvSpPr/>
                <p:nvPr/>
              </p:nvSpPr>
              <p:spPr>
                <a:xfrm>
                  <a:off x="2029517" y="1996395"/>
                  <a:ext cx="135152" cy="135374"/>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7821;p65">
                  <a:extLst>
                    <a:ext uri="{FF2B5EF4-FFF2-40B4-BE49-F238E27FC236}">
                      <a16:creationId xmlns:a16="http://schemas.microsoft.com/office/drawing/2014/main" id="{C5E54A54-3593-05B9-064E-8BCB48061B6D}"/>
                    </a:ext>
                  </a:extLst>
                </p:cNvPr>
                <p:cNvGrpSpPr/>
                <p:nvPr/>
              </p:nvGrpSpPr>
              <p:grpSpPr>
                <a:xfrm>
                  <a:off x="2158948" y="1732295"/>
                  <a:ext cx="556396" cy="333108"/>
                  <a:chOff x="2158948" y="1732295"/>
                  <a:chExt cx="556396" cy="333108"/>
                </a:xfrm>
              </p:grpSpPr>
              <p:cxnSp>
                <p:nvCxnSpPr>
                  <p:cNvPr id="39" name="Google Shape;7822;p65">
                    <a:extLst>
                      <a:ext uri="{FF2B5EF4-FFF2-40B4-BE49-F238E27FC236}">
                        <a16:creationId xmlns:a16="http://schemas.microsoft.com/office/drawing/2014/main" id="{B38111C0-E73B-6FA9-DBDA-4D96852999D6}"/>
                      </a:ext>
                    </a:extLst>
                  </p:cNvPr>
                  <p:cNvCxnSpPr/>
                  <p:nvPr/>
                </p:nvCxnSpPr>
                <p:spPr>
                  <a:xfrm rot="10800000" flipH="1">
                    <a:off x="2158948" y="1783103"/>
                    <a:ext cx="459000" cy="2823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40" name="Google Shape;7823;p65">
                    <a:extLst>
                      <a:ext uri="{FF2B5EF4-FFF2-40B4-BE49-F238E27FC236}">
                        <a16:creationId xmlns:a16="http://schemas.microsoft.com/office/drawing/2014/main" id="{747CE505-995E-811D-1BDC-A6BBB7205481}"/>
                      </a:ext>
                    </a:extLst>
                  </p:cNvPr>
                  <p:cNvSpPr/>
                  <p:nvPr/>
                </p:nvSpPr>
                <p:spPr>
                  <a:xfrm>
                    <a:off x="2612072" y="1732295"/>
                    <a:ext cx="103272" cy="100095"/>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7824;p65">
                  <a:extLst>
                    <a:ext uri="{FF2B5EF4-FFF2-40B4-BE49-F238E27FC236}">
                      <a16:creationId xmlns:a16="http://schemas.microsoft.com/office/drawing/2014/main" id="{EA7EE3A4-38C1-9B53-CB65-D13AA299426F}"/>
                    </a:ext>
                  </a:extLst>
                </p:cNvPr>
                <p:cNvGrpSpPr/>
                <p:nvPr/>
              </p:nvGrpSpPr>
              <p:grpSpPr>
                <a:xfrm>
                  <a:off x="2159908" y="2065057"/>
                  <a:ext cx="550884" cy="310670"/>
                  <a:chOff x="2159908" y="2065057"/>
                  <a:chExt cx="550884" cy="310670"/>
                </a:xfrm>
              </p:grpSpPr>
              <p:cxnSp>
                <p:nvCxnSpPr>
                  <p:cNvPr id="37" name="Google Shape;7825;p65">
                    <a:extLst>
                      <a:ext uri="{FF2B5EF4-FFF2-40B4-BE49-F238E27FC236}">
                        <a16:creationId xmlns:a16="http://schemas.microsoft.com/office/drawing/2014/main" id="{FD3D0ACE-DA3D-2CE1-9D84-0518B42B4CE6}"/>
                      </a:ext>
                    </a:extLst>
                  </p:cNvPr>
                  <p:cNvCxnSpPr/>
                  <p:nvPr/>
                </p:nvCxnSpPr>
                <p:spPr>
                  <a:xfrm>
                    <a:off x="2159908" y="2065057"/>
                    <a:ext cx="454500" cy="2622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38" name="Google Shape;7826;p65">
                    <a:extLst>
                      <a:ext uri="{FF2B5EF4-FFF2-40B4-BE49-F238E27FC236}">
                        <a16:creationId xmlns:a16="http://schemas.microsoft.com/office/drawing/2014/main" id="{4022AFFF-1D55-5050-6414-25FE59B99CA7}"/>
                      </a:ext>
                    </a:extLst>
                  </p:cNvPr>
                  <p:cNvSpPr/>
                  <p:nvPr/>
                </p:nvSpPr>
                <p:spPr>
                  <a:xfrm>
                    <a:off x="2607514" y="2275632"/>
                    <a:ext cx="103279" cy="100095"/>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53" name="Google Shape;7506;p65">
            <a:extLst>
              <a:ext uri="{FF2B5EF4-FFF2-40B4-BE49-F238E27FC236}">
                <a16:creationId xmlns:a16="http://schemas.microsoft.com/office/drawing/2014/main" id="{449EA67B-FAD9-6A7F-DBE6-8C728CDB2BC2}"/>
              </a:ext>
            </a:extLst>
          </p:cNvPr>
          <p:cNvGrpSpPr/>
          <p:nvPr/>
        </p:nvGrpSpPr>
        <p:grpSpPr>
          <a:xfrm>
            <a:off x="7830577" y="4242767"/>
            <a:ext cx="1102891" cy="760337"/>
            <a:chOff x="4967783" y="2151471"/>
            <a:chExt cx="3920692" cy="2702940"/>
          </a:xfrm>
        </p:grpSpPr>
        <p:grpSp>
          <p:nvGrpSpPr>
            <p:cNvPr id="54" name="Google Shape;7507;p65">
              <a:extLst>
                <a:ext uri="{FF2B5EF4-FFF2-40B4-BE49-F238E27FC236}">
                  <a16:creationId xmlns:a16="http://schemas.microsoft.com/office/drawing/2014/main" id="{294C9F4D-F5BD-DEE9-B429-A8386BBB11B0}"/>
                </a:ext>
              </a:extLst>
            </p:cNvPr>
            <p:cNvGrpSpPr/>
            <p:nvPr/>
          </p:nvGrpSpPr>
          <p:grpSpPr>
            <a:xfrm>
              <a:off x="5045709" y="2252109"/>
              <a:ext cx="3761071" cy="2501708"/>
              <a:chOff x="2691784" y="1805334"/>
              <a:chExt cx="3761071" cy="2501708"/>
            </a:xfrm>
          </p:grpSpPr>
          <p:sp>
            <p:nvSpPr>
              <p:cNvPr id="61" name="Google Shape;7508;p65">
                <a:extLst>
                  <a:ext uri="{FF2B5EF4-FFF2-40B4-BE49-F238E27FC236}">
                    <a16:creationId xmlns:a16="http://schemas.microsoft.com/office/drawing/2014/main" id="{EAD034D9-C2BB-3FCA-C77F-3224500E6D75}"/>
                  </a:ext>
                </a:extLst>
              </p:cNvPr>
              <p:cNvSpPr/>
              <p:nvPr/>
            </p:nvSpPr>
            <p:spPr>
              <a:xfrm>
                <a:off x="4306153" y="4266675"/>
                <a:ext cx="932050" cy="40353"/>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7509;p65">
                <a:extLst>
                  <a:ext uri="{FF2B5EF4-FFF2-40B4-BE49-F238E27FC236}">
                    <a16:creationId xmlns:a16="http://schemas.microsoft.com/office/drawing/2014/main" id="{305F2CAA-DA82-8893-A5C6-AB7FBC7739A4}"/>
                  </a:ext>
                </a:extLst>
              </p:cNvPr>
              <p:cNvSpPr/>
              <p:nvPr/>
            </p:nvSpPr>
            <p:spPr>
              <a:xfrm>
                <a:off x="2691784" y="3762285"/>
                <a:ext cx="1916675" cy="544757"/>
              </a:xfrm>
              <a:custGeom>
                <a:avLst/>
                <a:gdLst/>
                <a:ahLst/>
                <a:cxnLst/>
                <a:rect l="l" t="t" r="r" b="b"/>
                <a:pathLst>
                  <a:path w="128485" h="36518" extrusionOk="0">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7510;p65">
                <a:extLst>
                  <a:ext uri="{FF2B5EF4-FFF2-40B4-BE49-F238E27FC236}">
                    <a16:creationId xmlns:a16="http://schemas.microsoft.com/office/drawing/2014/main" id="{729385B2-D639-5345-2B43-617B92D5FB5B}"/>
                  </a:ext>
                </a:extLst>
              </p:cNvPr>
              <p:cNvSpPr/>
              <p:nvPr/>
            </p:nvSpPr>
            <p:spPr>
              <a:xfrm>
                <a:off x="2695021" y="3035999"/>
                <a:ext cx="754960" cy="529407"/>
              </a:xfrm>
              <a:custGeom>
                <a:avLst/>
                <a:gdLst/>
                <a:ahLst/>
                <a:cxnLst/>
                <a:rect l="l" t="t" r="r" b="b"/>
                <a:pathLst>
                  <a:path w="50609" h="35489" extrusionOk="0">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7511;p65">
                <a:extLst>
                  <a:ext uri="{FF2B5EF4-FFF2-40B4-BE49-F238E27FC236}">
                    <a16:creationId xmlns:a16="http://schemas.microsoft.com/office/drawing/2014/main" id="{2F1F186C-87E7-86DA-36CA-FD26534E8A1B}"/>
                  </a:ext>
                </a:extLst>
              </p:cNvPr>
              <p:cNvSpPr/>
              <p:nvPr/>
            </p:nvSpPr>
            <p:spPr>
              <a:xfrm>
                <a:off x="3661791" y="2531620"/>
                <a:ext cx="2791064" cy="544757"/>
              </a:xfrm>
              <a:custGeom>
                <a:avLst/>
                <a:gdLst/>
                <a:ahLst/>
                <a:cxnLst/>
                <a:rect l="l" t="t" r="r" b="b"/>
                <a:pathLst>
                  <a:path w="187100" h="36518" extrusionOk="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7512;p65">
                <a:extLst>
                  <a:ext uri="{FF2B5EF4-FFF2-40B4-BE49-F238E27FC236}">
                    <a16:creationId xmlns:a16="http://schemas.microsoft.com/office/drawing/2014/main" id="{6A4DF5E8-A4BB-A80F-A4FA-AED8AECA8DD2}"/>
                  </a:ext>
                </a:extLst>
              </p:cNvPr>
              <p:cNvSpPr/>
              <p:nvPr/>
            </p:nvSpPr>
            <p:spPr>
              <a:xfrm>
                <a:off x="5153124" y="1805334"/>
                <a:ext cx="1294451" cy="512461"/>
              </a:xfrm>
              <a:custGeom>
                <a:avLst/>
                <a:gdLst/>
                <a:ahLst/>
                <a:cxnLst/>
                <a:rect l="l" t="t" r="r" b="b"/>
                <a:pathLst>
                  <a:path w="86774" h="34353" extrusionOk="0">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7513;p65">
                <a:extLst>
                  <a:ext uri="{FF2B5EF4-FFF2-40B4-BE49-F238E27FC236}">
                    <a16:creationId xmlns:a16="http://schemas.microsoft.com/office/drawing/2014/main" id="{36DAD3A5-9EAC-59D4-2AC1-B8280C652B85}"/>
                  </a:ext>
                </a:extLst>
              </p:cNvPr>
              <p:cNvSpPr/>
              <p:nvPr/>
            </p:nvSpPr>
            <p:spPr>
              <a:xfrm>
                <a:off x="2785807" y="1805334"/>
                <a:ext cx="2143839" cy="40367"/>
              </a:xfrm>
              <a:custGeom>
                <a:avLst/>
                <a:gdLst/>
                <a:ahLst/>
                <a:cxnLst/>
                <a:rect l="l" t="t" r="r" b="b"/>
                <a:pathLst>
                  <a:path w="143713" h="2706" extrusionOk="0">
                    <a:moveTo>
                      <a:pt x="0" y="0"/>
                    </a:moveTo>
                    <a:lnTo>
                      <a:pt x="0" y="2705"/>
                    </a:lnTo>
                    <a:lnTo>
                      <a:pt x="143712" y="2705"/>
                    </a:lnTo>
                    <a:lnTo>
                      <a:pt x="143712"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7514;p65">
                <a:extLst>
                  <a:ext uri="{FF2B5EF4-FFF2-40B4-BE49-F238E27FC236}">
                    <a16:creationId xmlns:a16="http://schemas.microsoft.com/office/drawing/2014/main" id="{C579F523-155F-E6AA-B78B-1648AEE3FD4D}"/>
                  </a:ext>
                </a:extLst>
              </p:cNvPr>
              <p:cNvSpPr/>
              <p:nvPr/>
            </p:nvSpPr>
            <p:spPr>
              <a:xfrm>
                <a:off x="5447728" y="4266675"/>
                <a:ext cx="932050" cy="40353"/>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7515;p65">
              <a:extLst>
                <a:ext uri="{FF2B5EF4-FFF2-40B4-BE49-F238E27FC236}">
                  <a16:creationId xmlns:a16="http://schemas.microsoft.com/office/drawing/2014/main" id="{65135DB9-748E-4FC1-4D36-B620FC98C7C0}"/>
                </a:ext>
              </a:extLst>
            </p:cNvPr>
            <p:cNvGrpSpPr/>
            <p:nvPr/>
          </p:nvGrpSpPr>
          <p:grpSpPr>
            <a:xfrm>
              <a:off x="4967783" y="2151471"/>
              <a:ext cx="3920692" cy="2702940"/>
              <a:chOff x="2613858" y="1704696"/>
              <a:chExt cx="3920692" cy="2702940"/>
            </a:xfrm>
          </p:grpSpPr>
          <p:sp>
            <p:nvSpPr>
              <p:cNvPr id="56" name="Google Shape;7516;p65">
                <a:extLst>
                  <a:ext uri="{FF2B5EF4-FFF2-40B4-BE49-F238E27FC236}">
                    <a16:creationId xmlns:a16="http://schemas.microsoft.com/office/drawing/2014/main" id="{0468CEF1-95AE-43D2-6855-CB3E93A92BE5}"/>
                  </a:ext>
                </a:extLst>
              </p:cNvPr>
              <p:cNvSpPr/>
              <p:nvPr/>
            </p:nvSpPr>
            <p:spPr>
              <a:xfrm rot="5400000">
                <a:off x="4924676" y="1720789"/>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7517;p65">
                <a:extLst>
                  <a:ext uri="{FF2B5EF4-FFF2-40B4-BE49-F238E27FC236}">
                    <a16:creationId xmlns:a16="http://schemas.microsoft.com/office/drawing/2014/main" id="{AF04DFC3-E22A-B0CB-A2D8-5E0656F45796}"/>
                  </a:ext>
                </a:extLst>
              </p:cNvPr>
              <p:cNvSpPr/>
              <p:nvPr/>
            </p:nvSpPr>
            <p:spPr>
              <a:xfrm rot="5400000">
                <a:off x="6309028" y="2311963"/>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7518;p65">
                <a:extLst>
                  <a:ext uri="{FF2B5EF4-FFF2-40B4-BE49-F238E27FC236}">
                    <a16:creationId xmlns:a16="http://schemas.microsoft.com/office/drawing/2014/main" id="{6C107FAB-3E2E-7010-B98A-37E27693B7F6}"/>
                  </a:ext>
                </a:extLst>
              </p:cNvPr>
              <p:cNvSpPr/>
              <p:nvPr/>
            </p:nvSpPr>
            <p:spPr>
              <a:xfrm rot="5400000">
                <a:off x="5222154" y="4182115"/>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7519;p65">
                <a:extLst>
                  <a:ext uri="{FF2B5EF4-FFF2-40B4-BE49-F238E27FC236}">
                    <a16:creationId xmlns:a16="http://schemas.microsoft.com/office/drawing/2014/main" id="{7B0C7CE8-6161-788E-49AE-CADB7046518A}"/>
                  </a:ext>
                </a:extLst>
              </p:cNvPr>
              <p:cNvSpPr/>
              <p:nvPr/>
            </p:nvSpPr>
            <p:spPr>
              <a:xfrm rot="5400000">
                <a:off x="2597765" y="3554395"/>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7520;p65">
                <a:extLst>
                  <a:ext uri="{FF2B5EF4-FFF2-40B4-BE49-F238E27FC236}">
                    <a16:creationId xmlns:a16="http://schemas.microsoft.com/office/drawing/2014/main" id="{8F6260D9-08C0-B2FB-F74E-25E04BB5CB6D}"/>
                  </a:ext>
                </a:extLst>
              </p:cNvPr>
              <p:cNvSpPr/>
              <p:nvPr/>
            </p:nvSpPr>
            <p:spPr>
              <a:xfrm rot="5400000">
                <a:off x="3433899" y="2945028"/>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8" name="Google Shape;7506;p65">
            <a:extLst>
              <a:ext uri="{FF2B5EF4-FFF2-40B4-BE49-F238E27FC236}">
                <a16:creationId xmlns:a16="http://schemas.microsoft.com/office/drawing/2014/main" id="{AB220CBE-A6C7-C882-FFCC-4EB02E63E8F7}"/>
              </a:ext>
            </a:extLst>
          </p:cNvPr>
          <p:cNvGrpSpPr/>
          <p:nvPr/>
        </p:nvGrpSpPr>
        <p:grpSpPr>
          <a:xfrm>
            <a:off x="305291" y="68925"/>
            <a:ext cx="1102891" cy="760337"/>
            <a:chOff x="4967783" y="2151471"/>
            <a:chExt cx="3920692" cy="2702940"/>
          </a:xfrm>
        </p:grpSpPr>
        <p:grpSp>
          <p:nvGrpSpPr>
            <p:cNvPr id="69" name="Google Shape;7507;p65">
              <a:extLst>
                <a:ext uri="{FF2B5EF4-FFF2-40B4-BE49-F238E27FC236}">
                  <a16:creationId xmlns:a16="http://schemas.microsoft.com/office/drawing/2014/main" id="{B178FFD4-C19B-A0CB-99B8-D6A3E57F0AC6}"/>
                </a:ext>
              </a:extLst>
            </p:cNvPr>
            <p:cNvGrpSpPr/>
            <p:nvPr/>
          </p:nvGrpSpPr>
          <p:grpSpPr>
            <a:xfrm>
              <a:off x="5045709" y="2252109"/>
              <a:ext cx="3761071" cy="2501708"/>
              <a:chOff x="2691784" y="1805334"/>
              <a:chExt cx="3761071" cy="2501708"/>
            </a:xfrm>
          </p:grpSpPr>
          <p:sp>
            <p:nvSpPr>
              <p:cNvPr id="76" name="Google Shape;7508;p65">
                <a:extLst>
                  <a:ext uri="{FF2B5EF4-FFF2-40B4-BE49-F238E27FC236}">
                    <a16:creationId xmlns:a16="http://schemas.microsoft.com/office/drawing/2014/main" id="{D986A45F-A43C-0CA9-E3D8-C91DD9775AC5}"/>
                  </a:ext>
                </a:extLst>
              </p:cNvPr>
              <p:cNvSpPr/>
              <p:nvPr/>
            </p:nvSpPr>
            <p:spPr>
              <a:xfrm>
                <a:off x="4306153" y="4266675"/>
                <a:ext cx="932050" cy="40353"/>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509;p65">
                <a:extLst>
                  <a:ext uri="{FF2B5EF4-FFF2-40B4-BE49-F238E27FC236}">
                    <a16:creationId xmlns:a16="http://schemas.microsoft.com/office/drawing/2014/main" id="{F3A9CA3E-324A-BE77-C589-FB1BAF0C35EF}"/>
                  </a:ext>
                </a:extLst>
              </p:cNvPr>
              <p:cNvSpPr/>
              <p:nvPr/>
            </p:nvSpPr>
            <p:spPr>
              <a:xfrm>
                <a:off x="2691784" y="3762285"/>
                <a:ext cx="1916675" cy="544757"/>
              </a:xfrm>
              <a:custGeom>
                <a:avLst/>
                <a:gdLst/>
                <a:ahLst/>
                <a:cxnLst/>
                <a:rect l="l" t="t" r="r" b="b"/>
                <a:pathLst>
                  <a:path w="128485" h="36518" extrusionOk="0">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510;p65">
                <a:extLst>
                  <a:ext uri="{FF2B5EF4-FFF2-40B4-BE49-F238E27FC236}">
                    <a16:creationId xmlns:a16="http://schemas.microsoft.com/office/drawing/2014/main" id="{55321D54-3361-6D25-265C-C6B8C4335570}"/>
                  </a:ext>
                </a:extLst>
              </p:cNvPr>
              <p:cNvSpPr/>
              <p:nvPr/>
            </p:nvSpPr>
            <p:spPr>
              <a:xfrm>
                <a:off x="2695021" y="3035999"/>
                <a:ext cx="754960" cy="529407"/>
              </a:xfrm>
              <a:custGeom>
                <a:avLst/>
                <a:gdLst/>
                <a:ahLst/>
                <a:cxnLst/>
                <a:rect l="l" t="t" r="r" b="b"/>
                <a:pathLst>
                  <a:path w="50609" h="35489" extrusionOk="0">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511;p65">
                <a:extLst>
                  <a:ext uri="{FF2B5EF4-FFF2-40B4-BE49-F238E27FC236}">
                    <a16:creationId xmlns:a16="http://schemas.microsoft.com/office/drawing/2014/main" id="{458E83BD-B934-0182-C757-80F969D43D2D}"/>
                  </a:ext>
                </a:extLst>
              </p:cNvPr>
              <p:cNvSpPr/>
              <p:nvPr/>
            </p:nvSpPr>
            <p:spPr>
              <a:xfrm>
                <a:off x="3661791" y="2531620"/>
                <a:ext cx="2791064" cy="544757"/>
              </a:xfrm>
              <a:custGeom>
                <a:avLst/>
                <a:gdLst/>
                <a:ahLst/>
                <a:cxnLst/>
                <a:rect l="l" t="t" r="r" b="b"/>
                <a:pathLst>
                  <a:path w="187100" h="36518" extrusionOk="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7512;p65">
                <a:extLst>
                  <a:ext uri="{FF2B5EF4-FFF2-40B4-BE49-F238E27FC236}">
                    <a16:creationId xmlns:a16="http://schemas.microsoft.com/office/drawing/2014/main" id="{FDB78B87-9CB0-CC7B-1EA3-63A04976258E}"/>
                  </a:ext>
                </a:extLst>
              </p:cNvPr>
              <p:cNvSpPr/>
              <p:nvPr/>
            </p:nvSpPr>
            <p:spPr>
              <a:xfrm>
                <a:off x="5153124" y="1805334"/>
                <a:ext cx="1294451" cy="512461"/>
              </a:xfrm>
              <a:custGeom>
                <a:avLst/>
                <a:gdLst/>
                <a:ahLst/>
                <a:cxnLst/>
                <a:rect l="l" t="t" r="r" b="b"/>
                <a:pathLst>
                  <a:path w="86774" h="34353" extrusionOk="0">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7513;p65">
                <a:extLst>
                  <a:ext uri="{FF2B5EF4-FFF2-40B4-BE49-F238E27FC236}">
                    <a16:creationId xmlns:a16="http://schemas.microsoft.com/office/drawing/2014/main" id="{17A99FA3-5C36-1E48-E7A9-18E5A8826214}"/>
                  </a:ext>
                </a:extLst>
              </p:cNvPr>
              <p:cNvSpPr/>
              <p:nvPr/>
            </p:nvSpPr>
            <p:spPr>
              <a:xfrm>
                <a:off x="2785807" y="1805334"/>
                <a:ext cx="2143839" cy="40367"/>
              </a:xfrm>
              <a:custGeom>
                <a:avLst/>
                <a:gdLst/>
                <a:ahLst/>
                <a:cxnLst/>
                <a:rect l="l" t="t" r="r" b="b"/>
                <a:pathLst>
                  <a:path w="143713" h="2706" extrusionOk="0">
                    <a:moveTo>
                      <a:pt x="0" y="0"/>
                    </a:moveTo>
                    <a:lnTo>
                      <a:pt x="0" y="2705"/>
                    </a:lnTo>
                    <a:lnTo>
                      <a:pt x="143712" y="2705"/>
                    </a:lnTo>
                    <a:lnTo>
                      <a:pt x="143712"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7514;p65">
                <a:extLst>
                  <a:ext uri="{FF2B5EF4-FFF2-40B4-BE49-F238E27FC236}">
                    <a16:creationId xmlns:a16="http://schemas.microsoft.com/office/drawing/2014/main" id="{D7B039F7-5412-A7D4-AF1A-11C873C531A7}"/>
                  </a:ext>
                </a:extLst>
              </p:cNvPr>
              <p:cNvSpPr/>
              <p:nvPr/>
            </p:nvSpPr>
            <p:spPr>
              <a:xfrm>
                <a:off x="5447728" y="4266675"/>
                <a:ext cx="932050" cy="40353"/>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515;p65">
              <a:extLst>
                <a:ext uri="{FF2B5EF4-FFF2-40B4-BE49-F238E27FC236}">
                  <a16:creationId xmlns:a16="http://schemas.microsoft.com/office/drawing/2014/main" id="{1F24E1B8-987C-756D-E709-F771D0972E1C}"/>
                </a:ext>
              </a:extLst>
            </p:cNvPr>
            <p:cNvGrpSpPr/>
            <p:nvPr/>
          </p:nvGrpSpPr>
          <p:grpSpPr>
            <a:xfrm>
              <a:off x="4967783" y="2151471"/>
              <a:ext cx="3920692" cy="2702940"/>
              <a:chOff x="2613858" y="1704696"/>
              <a:chExt cx="3920692" cy="2702940"/>
            </a:xfrm>
          </p:grpSpPr>
          <p:sp>
            <p:nvSpPr>
              <p:cNvPr id="71" name="Google Shape;7516;p65">
                <a:extLst>
                  <a:ext uri="{FF2B5EF4-FFF2-40B4-BE49-F238E27FC236}">
                    <a16:creationId xmlns:a16="http://schemas.microsoft.com/office/drawing/2014/main" id="{13F22C19-E882-BE14-C37B-6B7DE2ECFAA3}"/>
                  </a:ext>
                </a:extLst>
              </p:cNvPr>
              <p:cNvSpPr/>
              <p:nvPr/>
            </p:nvSpPr>
            <p:spPr>
              <a:xfrm rot="5400000">
                <a:off x="4924676" y="1720789"/>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517;p65">
                <a:extLst>
                  <a:ext uri="{FF2B5EF4-FFF2-40B4-BE49-F238E27FC236}">
                    <a16:creationId xmlns:a16="http://schemas.microsoft.com/office/drawing/2014/main" id="{983A2A15-77C6-D09A-12D9-D432E4678AD4}"/>
                  </a:ext>
                </a:extLst>
              </p:cNvPr>
              <p:cNvSpPr/>
              <p:nvPr/>
            </p:nvSpPr>
            <p:spPr>
              <a:xfrm rot="5400000">
                <a:off x="6309028" y="2311963"/>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518;p65">
                <a:extLst>
                  <a:ext uri="{FF2B5EF4-FFF2-40B4-BE49-F238E27FC236}">
                    <a16:creationId xmlns:a16="http://schemas.microsoft.com/office/drawing/2014/main" id="{B6D8E850-8A19-A2E0-AADE-E4A4020B406F}"/>
                  </a:ext>
                </a:extLst>
              </p:cNvPr>
              <p:cNvSpPr/>
              <p:nvPr/>
            </p:nvSpPr>
            <p:spPr>
              <a:xfrm rot="5400000">
                <a:off x="5222154" y="4182115"/>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519;p65">
                <a:extLst>
                  <a:ext uri="{FF2B5EF4-FFF2-40B4-BE49-F238E27FC236}">
                    <a16:creationId xmlns:a16="http://schemas.microsoft.com/office/drawing/2014/main" id="{A54DC5C4-085C-458B-5068-B3C7BD3F1FAB}"/>
                  </a:ext>
                </a:extLst>
              </p:cNvPr>
              <p:cNvSpPr/>
              <p:nvPr/>
            </p:nvSpPr>
            <p:spPr>
              <a:xfrm rot="5400000">
                <a:off x="2597765" y="3554395"/>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20;p65">
                <a:extLst>
                  <a:ext uri="{FF2B5EF4-FFF2-40B4-BE49-F238E27FC236}">
                    <a16:creationId xmlns:a16="http://schemas.microsoft.com/office/drawing/2014/main" id="{9DB05D6B-5288-1789-36F2-AD2A94BDE2AA}"/>
                  </a:ext>
                </a:extLst>
              </p:cNvPr>
              <p:cNvSpPr/>
              <p:nvPr/>
            </p:nvSpPr>
            <p:spPr>
              <a:xfrm rot="5400000">
                <a:off x="3433899" y="2945028"/>
                <a:ext cx="241614" cy="209428"/>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3" name="Google Shape;8151;p67">
            <a:extLst>
              <a:ext uri="{FF2B5EF4-FFF2-40B4-BE49-F238E27FC236}">
                <a16:creationId xmlns:a16="http://schemas.microsoft.com/office/drawing/2014/main" id="{AE0E96BF-836B-E104-C52B-A8D9B48A724E}"/>
              </a:ext>
            </a:extLst>
          </p:cNvPr>
          <p:cNvGrpSpPr/>
          <p:nvPr/>
        </p:nvGrpSpPr>
        <p:grpSpPr>
          <a:xfrm>
            <a:off x="1376832" y="1627215"/>
            <a:ext cx="1046669" cy="994226"/>
            <a:chOff x="1743302" y="3221377"/>
            <a:chExt cx="919968" cy="1146069"/>
          </a:xfrm>
        </p:grpSpPr>
        <p:sp>
          <p:nvSpPr>
            <p:cNvPr id="84" name="Google Shape;8152;p67">
              <a:extLst>
                <a:ext uri="{FF2B5EF4-FFF2-40B4-BE49-F238E27FC236}">
                  <a16:creationId xmlns:a16="http://schemas.microsoft.com/office/drawing/2014/main" id="{6357B56C-7E24-6688-DD21-E2E3935FBF2B}"/>
                </a:ext>
              </a:extLst>
            </p:cNvPr>
            <p:cNvSpPr/>
            <p:nvPr/>
          </p:nvSpPr>
          <p:spPr>
            <a:xfrm>
              <a:off x="1875146" y="3221377"/>
              <a:ext cx="788124" cy="1146069"/>
            </a:xfrm>
            <a:custGeom>
              <a:avLst/>
              <a:gdLst/>
              <a:ahLst/>
              <a:cxnLst/>
              <a:rect l="l" t="t" r="r" b="b"/>
              <a:pathLst>
                <a:path w="30365" h="44156" extrusionOk="0">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153;p67">
              <a:extLst>
                <a:ext uri="{FF2B5EF4-FFF2-40B4-BE49-F238E27FC236}">
                  <a16:creationId xmlns:a16="http://schemas.microsoft.com/office/drawing/2014/main" id="{9E4EA2D5-4A80-C20A-57CC-99FE434D0DA8}"/>
                </a:ext>
              </a:extLst>
            </p:cNvPr>
            <p:cNvSpPr/>
            <p:nvPr/>
          </p:nvSpPr>
          <p:spPr>
            <a:xfrm>
              <a:off x="1743302" y="4053603"/>
              <a:ext cx="291293" cy="291267"/>
            </a:xfrm>
            <a:custGeom>
              <a:avLst/>
              <a:gdLst/>
              <a:ahLst/>
              <a:cxnLst/>
              <a:rect l="l" t="t" r="r" b="b"/>
              <a:pathLst>
                <a:path w="11223" h="11222" extrusionOk="0">
                  <a:moveTo>
                    <a:pt x="1" y="0"/>
                  </a:moveTo>
                  <a:lnTo>
                    <a:pt x="1" y="11222"/>
                  </a:lnTo>
                  <a:lnTo>
                    <a:pt x="11222" y="11222"/>
                  </a:lnTo>
                  <a:lnTo>
                    <a:pt x="11222" y="0"/>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 name="Google Shape;8151;p67">
            <a:extLst>
              <a:ext uri="{FF2B5EF4-FFF2-40B4-BE49-F238E27FC236}">
                <a16:creationId xmlns:a16="http://schemas.microsoft.com/office/drawing/2014/main" id="{8E15BBD0-7B64-30FB-20BF-819CC4549AC6}"/>
              </a:ext>
            </a:extLst>
          </p:cNvPr>
          <p:cNvGrpSpPr/>
          <p:nvPr/>
        </p:nvGrpSpPr>
        <p:grpSpPr>
          <a:xfrm rot="10800000">
            <a:off x="6550046" y="2371600"/>
            <a:ext cx="886607" cy="957424"/>
            <a:chOff x="1697726" y="3244179"/>
            <a:chExt cx="788124" cy="1146069"/>
          </a:xfrm>
        </p:grpSpPr>
        <p:sp>
          <p:nvSpPr>
            <p:cNvPr id="87" name="Google Shape;8152;p67">
              <a:extLst>
                <a:ext uri="{FF2B5EF4-FFF2-40B4-BE49-F238E27FC236}">
                  <a16:creationId xmlns:a16="http://schemas.microsoft.com/office/drawing/2014/main" id="{C7DE7E0F-DA23-EEC2-2DAE-CB31F66DB1AE}"/>
                </a:ext>
              </a:extLst>
            </p:cNvPr>
            <p:cNvSpPr/>
            <p:nvPr/>
          </p:nvSpPr>
          <p:spPr>
            <a:xfrm>
              <a:off x="1697726" y="3244179"/>
              <a:ext cx="788124" cy="1146069"/>
            </a:xfrm>
            <a:custGeom>
              <a:avLst/>
              <a:gdLst/>
              <a:ahLst/>
              <a:cxnLst/>
              <a:rect l="l" t="t" r="r" b="b"/>
              <a:pathLst>
                <a:path w="30365" h="44156" extrusionOk="0">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153;p67">
              <a:extLst>
                <a:ext uri="{FF2B5EF4-FFF2-40B4-BE49-F238E27FC236}">
                  <a16:creationId xmlns:a16="http://schemas.microsoft.com/office/drawing/2014/main" id="{3C1452F9-BBD7-9B66-B0DF-2097BF691722}"/>
                </a:ext>
              </a:extLst>
            </p:cNvPr>
            <p:cNvSpPr/>
            <p:nvPr/>
          </p:nvSpPr>
          <p:spPr>
            <a:xfrm>
              <a:off x="1743302" y="4053603"/>
              <a:ext cx="291293" cy="291267"/>
            </a:xfrm>
            <a:custGeom>
              <a:avLst/>
              <a:gdLst/>
              <a:ahLst/>
              <a:cxnLst/>
              <a:rect l="l" t="t" r="r" b="b"/>
              <a:pathLst>
                <a:path w="11223" h="11222" extrusionOk="0">
                  <a:moveTo>
                    <a:pt x="1" y="0"/>
                  </a:moveTo>
                  <a:lnTo>
                    <a:pt x="1" y="11222"/>
                  </a:lnTo>
                  <a:lnTo>
                    <a:pt x="11222" y="11222"/>
                  </a:lnTo>
                  <a:lnTo>
                    <a:pt x="11222" y="0"/>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8146;p67">
            <a:extLst>
              <a:ext uri="{FF2B5EF4-FFF2-40B4-BE49-F238E27FC236}">
                <a16:creationId xmlns:a16="http://schemas.microsoft.com/office/drawing/2014/main" id="{3594EFEE-7D39-4C1B-7B5B-7B93EAB674BC}"/>
              </a:ext>
            </a:extLst>
          </p:cNvPr>
          <p:cNvGrpSpPr/>
          <p:nvPr/>
        </p:nvGrpSpPr>
        <p:grpSpPr>
          <a:xfrm>
            <a:off x="1568681" y="604159"/>
            <a:ext cx="472264" cy="908429"/>
            <a:chOff x="8075075" y="3754290"/>
            <a:chExt cx="255612" cy="613194"/>
          </a:xfrm>
        </p:grpSpPr>
        <p:grpSp>
          <p:nvGrpSpPr>
            <p:cNvPr id="93" name="Google Shape;8147;p67">
              <a:extLst>
                <a:ext uri="{FF2B5EF4-FFF2-40B4-BE49-F238E27FC236}">
                  <a16:creationId xmlns:a16="http://schemas.microsoft.com/office/drawing/2014/main" id="{AA559BFB-30B1-AEEA-A498-7F046E9B2198}"/>
                </a:ext>
              </a:extLst>
            </p:cNvPr>
            <p:cNvGrpSpPr/>
            <p:nvPr/>
          </p:nvGrpSpPr>
          <p:grpSpPr>
            <a:xfrm>
              <a:off x="8075075" y="3754290"/>
              <a:ext cx="255612" cy="613194"/>
              <a:chOff x="8075075" y="3754290"/>
              <a:chExt cx="255612" cy="613194"/>
            </a:xfrm>
          </p:grpSpPr>
          <p:sp>
            <p:nvSpPr>
              <p:cNvPr id="95" name="Google Shape;8148;p67">
                <a:extLst>
                  <a:ext uri="{FF2B5EF4-FFF2-40B4-BE49-F238E27FC236}">
                    <a16:creationId xmlns:a16="http://schemas.microsoft.com/office/drawing/2014/main" id="{7EED2B50-DEA4-0A3A-044F-2DD63946A87C}"/>
                  </a:ext>
                </a:extLst>
              </p:cNvPr>
              <p:cNvSpPr/>
              <p:nvPr/>
            </p:nvSpPr>
            <p:spPr>
              <a:xfrm>
                <a:off x="8075075" y="4252967"/>
                <a:ext cx="255612" cy="114517"/>
              </a:xfrm>
              <a:custGeom>
                <a:avLst/>
                <a:gdLst/>
                <a:ahLst/>
                <a:cxnLst/>
                <a:rect l="l" t="t" r="r" b="b"/>
                <a:pathLst>
                  <a:path w="16734" h="7497" extrusionOk="0">
                    <a:moveTo>
                      <a:pt x="1" y="1"/>
                    </a:moveTo>
                    <a:lnTo>
                      <a:pt x="8369" y="7496"/>
                    </a:lnTo>
                    <a:lnTo>
                      <a:pt x="16734"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8149;p67">
                <a:extLst>
                  <a:ext uri="{FF2B5EF4-FFF2-40B4-BE49-F238E27FC236}">
                    <a16:creationId xmlns:a16="http://schemas.microsoft.com/office/drawing/2014/main" id="{843B4144-2C5B-004A-617B-5E072AD4B65B}"/>
                  </a:ext>
                </a:extLst>
              </p:cNvPr>
              <p:cNvSpPr/>
              <p:nvPr/>
            </p:nvSpPr>
            <p:spPr>
              <a:xfrm>
                <a:off x="8075075" y="3754290"/>
                <a:ext cx="255612" cy="498713"/>
              </a:xfrm>
              <a:custGeom>
                <a:avLst/>
                <a:gdLst/>
                <a:ahLst/>
                <a:cxnLst/>
                <a:rect l="l" t="t" r="r" b="b"/>
                <a:pathLst>
                  <a:path w="16734" h="32649" extrusionOk="0">
                    <a:moveTo>
                      <a:pt x="8369" y="0"/>
                    </a:moveTo>
                    <a:cubicBezTo>
                      <a:pt x="3747" y="0"/>
                      <a:pt x="1" y="3747"/>
                      <a:pt x="1" y="8366"/>
                    </a:cubicBezTo>
                    <a:lnTo>
                      <a:pt x="1" y="32649"/>
                    </a:lnTo>
                    <a:lnTo>
                      <a:pt x="16734" y="32649"/>
                    </a:lnTo>
                    <a:lnTo>
                      <a:pt x="16734" y="8366"/>
                    </a:lnTo>
                    <a:cubicBezTo>
                      <a:pt x="16734" y="3744"/>
                      <a:pt x="12987" y="0"/>
                      <a:pt x="8369"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 name="Google Shape;8150;p67">
              <a:extLst>
                <a:ext uri="{FF2B5EF4-FFF2-40B4-BE49-F238E27FC236}">
                  <a16:creationId xmlns:a16="http://schemas.microsoft.com/office/drawing/2014/main" id="{42B4F5B8-AFC2-5F9E-C201-9A49972067B6}"/>
                </a:ext>
              </a:extLst>
            </p:cNvPr>
            <p:cNvSpPr/>
            <p:nvPr/>
          </p:nvSpPr>
          <p:spPr>
            <a:xfrm>
              <a:off x="8107762" y="3782257"/>
              <a:ext cx="190281" cy="190281"/>
            </a:xfrm>
            <a:custGeom>
              <a:avLst/>
              <a:gdLst/>
              <a:ahLst/>
              <a:cxnLst/>
              <a:rect l="l" t="t" r="r" b="b"/>
              <a:pathLst>
                <a:path w="12457" h="12457" extrusionOk="0">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 name="Google Shape;8146;p67">
            <a:extLst>
              <a:ext uri="{FF2B5EF4-FFF2-40B4-BE49-F238E27FC236}">
                <a16:creationId xmlns:a16="http://schemas.microsoft.com/office/drawing/2014/main" id="{E860B7DE-107E-1055-DFBA-DCE5A2F80A99}"/>
              </a:ext>
            </a:extLst>
          </p:cNvPr>
          <p:cNvGrpSpPr/>
          <p:nvPr/>
        </p:nvGrpSpPr>
        <p:grpSpPr>
          <a:xfrm>
            <a:off x="7362942" y="3396088"/>
            <a:ext cx="467635" cy="939782"/>
            <a:chOff x="8075075" y="3754290"/>
            <a:chExt cx="255612" cy="613194"/>
          </a:xfrm>
        </p:grpSpPr>
        <p:grpSp>
          <p:nvGrpSpPr>
            <p:cNvPr id="98" name="Google Shape;8147;p67">
              <a:extLst>
                <a:ext uri="{FF2B5EF4-FFF2-40B4-BE49-F238E27FC236}">
                  <a16:creationId xmlns:a16="http://schemas.microsoft.com/office/drawing/2014/main" id="{6C7F3A0C-1206-DA1F-1AD1-494E752AC2EB}"/>
                </a:ext>
              </a:extLst>
            </p:cNvPr>
            <p:cNvGrpSpPr/>
            <p:nvPr/>
          </p:nvGrpSpPr>
          <p:grpSpPr>
            <a:xfrm>
              <a:off x="8075075" y="3754290"/>
              <a:ext cx="255612" cy="613194"/>
              <a:chOff x="8075075" y="3754290"/>
              <a:chExt cx="255612" cy="613194"/>
            </a:xfrm>
          </p:grpSpPr>
          <p:sp>
            <p:nvSpPr>
              <p:cNvPr id="100" name="Google Shape;8148;p67">
                <a:extLst>
                  <a:ext uri="{FF2B5EF4-FFF2-40B4-BE49-F238E27FC236}">
                    <a16:creationId xmlns:a16="http://schemas.microsoft.com/office/drawing/2014/main" id="{D9AC9A11-762A-DC5D-6172-2B8F8346B4F1}"/>
                  </a:ext>
                </a:extLst>
              </p:cNvPr>
              <p:cNvSpPr/>
              <p:nvPr/>
            </p:nvSpPr>
            <p:spPr>
              <a:xfrm>
                <a:off x="8075075" y="4252967"/>
                <a:ext cx="255612" cy="114517"/>
              </a:xfrm>
              <a:custGeom>
                <a:avLst/>
                <a:gdLst/>
                <a:ahLst/>
                <a:cxnLst/>
                <a:rect l="l" t="t" r="r" b="b"/>
                <a:pathLst>
                  <a:path w="16734" h="7497" extrusionOk="0">
                    <a:moveTo>
                      <a:pt x="1" y="1"/>
                    </a:moveTo>
                    <a:lnTo>
                      <a:pt x="8369" y="7496"/>
                    </a:lnTo>
                    <a:lnTo>
                      <a:pt x="16734" y="1"/>
                    </a:ln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8149;p67">
                <a:extLst>
                  <a:ext uri="{FF2B5EF4-FFF2-40B4-BE49-F238E27FC236}">
                    <a16:creationId xmlns:a16="http://schemas.microsoft.com/office/drawing/2014/main" id="{75E5DA77-9970-88EE-F711-DCB191A899A6}"/>
                  </a:ext>
                </a:extLst>
              </p:cNvPr>
              <p:cNvSpPr/>
              <p:nvPr/>
            </p:nvSpPr>
            <p:spPr>
              <a:xfrm>
                <a:off x="8075075" y="3754290"/>
                <a:ext cx="255612" cy="498713"/>
              </a:xfrm>
              <a:custGeom>
                <a:avLst/>
                <a:gdLst/>
                <a:ahLst/>
                <a:cxnLst/>
                <a:rect l="l" t="t" r="r" b="b"/>
                <a:pathLst>
                  <a:path w="16734" h="32649" extrusionOk="0">
                    <a:moveTo>
                      <a:pt x="8369" y="0"/>
                    </a:moveTo>
                    <a:cubicBezTo>
                      <a:pt x="3747" y="0"/>
                      <a:pt x="1" y="3747"/>
                      <a:pt x="1" y="8366"/>
                    </a:cubicBezTo>
                    <a:lnTo>
                      <a:pt x="1" y="32649"/>
                    </a:lnTo>
                    <a:lnTo>
                      <a:pt x="16734" y="32649"/>
                    </a:lnTo>
                    <a:lnTo>
                      <a:pt x="16734" y="8366"/>
                    </a:lnTo>
                    <a:cubicBezTo>
                      <a:pt x="16734" y="3744"/>
                      <a:pt x="12987" y="0"/>
                      <a:pt x="8369" y="0"/>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8150;p67">
              <a:extLst>
                <a:ext uri="{FF2B5EF4-FFF2-40B4-BE49-F238E27FC236}">
                  <a16:creationId xmlns:a16="http://schemas.microsoft.com/office/drawing/2014/main" id="{E15C00B3-5E64-E58A-873E-11084793C8D1}"/>
                </a:ext>
              </a:extLst>
            </p:cNvPr>
            <p:cNvSpPr/>
            <p:nvPr/>
          </p:nvSpPr>
          <p:spPr>
            <a:xfrm>
              <a:off x="8107762" y="3782257"/>
              <a:ext cx="190281" cy="190281"/>
            </a:xfrm>
            <a:custGeom>
              <a:avLst/>
              <a:gdLst/>
              <a:ahLst/>
              <a:cxnLst/>
              <a:rect l="l" t="t" r="r" b="b"/>
              <a:pathLst>
                <a:path w="12457" h="12457" extrusionOk="0">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no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 name="Google Shape;8703;p68">
            <a:extLst>
              <a:ext uri="{FF2B5EF4-FFF2-40B4-BE49-F238E27FC236}">
                <a16:creationId xmlns:a16="http://schemas.microsoft.com/office/drawing/2014/main" id="{818F3CC3-9D2F-D013-C2A2-5CD992A4E148}"/>
              </a:ext>
            </a:extLst>
          </p:cNvPr>
          <p:cNvGrpSpPr/>
          <p:nvPr/>
        </p:nvGrpSpPr>
        <p:grpSpPr>
          <a:xfrm>
            <a:off x="7619272" y="-13509"/>
            <a:ext cx="1430711" cy="743389"/>
            <a:chOff x="5159450" y="1919950"/>
            <a:chExt cx="1541050" cy="862500"/>
          </a:xfrm>
        </p:grpSpPr>
        <p:sp>
          <p:nvSpPr>
            <p:cNvPr id="103" name="Google Shape;8704;p68">
              <a:extLst>
                <a:ext uri="{FF2B5EF4-FFF2-40B4-BE49-F238E27FC236}">
                  <a16:creationId xmlns:a16="http://schemas.microsoft.com/office/drawing/2014/main" id="{158747F5-18D8-790A-FA87-D36D696DC01A}"/>
                </a:ext>
              </a:extLst>
            </p:cNvPr>
            <p:cNvSpPr/>
            <p:nvPr/>
          </p:nvSpPr>
          <p:spPr>
            <a:xfrm>
              <a:off x="5216414" y="2060033"/>
              <a:ext cx="1436820" cy="600250"/>
            </a:xfrm>
            <a:custGeom>
              <a:avLst/>
              <a:gdLst/>
              <a:ahLst/>
              <a:cxnLst/>
              <a:rect l="l" t="t" r="r" b="b"/>
              <a:pathLst>
                <a:path w="165771" h="69253" extrusionOk="0">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w="19050" cap="flat" cmpd="sng">
              <a:solidFill>
                <a:srgbClr val="5F7D95"/>
              </a:solidFill>
              <a:prstDash val="solid"/>
              <a:round/>
              <a:headEnd type="oval" w="med" len="med"/>
              <a:tailEnd type="oval" w="med" len="med"/>
            </a:ln>
          </p:spPr>
        </p:sp>
        <p:grpSp>
          <p:nvGrpSpPr>
            <p:cNvPr id="104" name="Google Shape;8705;p68">
              <a:extLst>
                <a:ext uri="{FF2B5EF4-FFF2-40B4-BE49-F238E27FC236}">
                  <a16:creationId xmlns:a16="http://schemas.microsoft.com/office/drawing/2014/main" id="{742AC453-D8CA-ACB3-E4C5-BBAB633181F1}"/>
                </a:ext>
              </a:extLst>
            </p:cNvPr>
            <p:cNvGrpSpPr/>
            <p:nvPr/>
          </p:nvGrpSpPr>
          <p:grpSpPr>
            <a:xfrm>
              <a:off x="5159450" y="1919950"/>
              <a:ext cx="1541050" cy="862500"/>
              <a:chOff x="5159450" y="1919950"/>
              <a:chExt cx="1541050" cy="862500"/>
            </a:xfrm>
          </p:grpSpPr>
          <p:cxnSp>
            <p:nvCxnSpPr>
              <p:cNvPr id="105" name="Google Shape;8706;p68">
                <a:extLst>
                  <a:ext uri="{FF2B5EF4-FFF2-40B4-BE49-F238E27FC236}">
                    <a16:creationId xmlns:a16="http://schemas.microsoft.com/office/drawing/2014/main" id="{D49579A9-C76D-ABB7-0E3E-D9B5E01936A5}"/>
                  </a:ext>
                </a:extLst>
              </p:cNvPr>
              <p:cNvCxnSpPr/>
              <p:nvPr/>
            </p:nvCxnSpPr>
            <p:spPr>
              <a:xfrm>
                <a:off x="5159450" y="1919950"/>
                <a:ext cx="0" cy="862500"/>
              </a:xfrm>
              <a:prstGeom prst="straightConnector1">
                <a:avLst/>
              </a:prstGeom>
              <a:noFill/>
              <a:ln w="9525" cap="flat" cmpd="sng">
                <a:solidFill>
                  <a:srgbClr val="E3E9ED"/>
                </a:solidFill>
                <a:prstDash val="solid"/>
                <a:round/>
                <a:headEnd type="none" w="med" len="med"/>
                <a:tailEnd type="none" w="med" len="med"/>
              </a:ln>
            </p:spPr>
          </p:cxnSp>
          <p:cxnSp>
            <p:nvCxnSpPr>
              <p:cNvPr id="106" name="Google Shape;8707;p68">
                <a:extLst>
                  <a:ext uri="{FF2B5EF4-FFF2-40B4-BE49-F238E27FC236}">
                    <a16:creationId xmlns:a16="http://schemas.microsoft.com/office/drawing/2014/main" id="{92072B8F-1EA9-E82A-9DC6-284AD4ABD651}"/>
                  </a:ext>
                </a:extLst>
              </p:cNvPr>
              <p:cNvCxnSpPr/>
              <p:nvPr/>
            </p:nvCxnSpPr>
            <p:spPr>
              <a:xfrm>
                <a:off x="5161200" y="2778975"/>
                <a:ext cx="1539300" cy="0"/>
              </a:xfrm>
              <a:prstGeom prst="straightConnector1">
                <a:avLst/>
              </a:prstGeom>
              <a:noFill/>
              <a:ln w="9525" cap="flat" cmpd="sng">
                <a:solidFill>
                  <a:srgbClr val="E3E9ED"/>
                </a:solidFill>
                <a:prstDash val="solid"/>
                <a:round/>
                <a:headEnd type="none" w="med" len="med"/>
                <a:tailEnd type="none" w="med" len="med"/>
              </a:ln>
            </p:spPr>
          </p:cxnSp>
        </p:grpSp>
      </p:grpSp>
      <p:grpSp>
        <p:nvGrpSpPr>
          <p:cNvPr id="107" name="Google Shape;8703;p68">
            <a:extLst>
              <a:ext uri="{FF2B5EF4-FFF2-40B4-BE49-F238E27FC236}">
                <a16:creationId xmlns:a16="http://schemas.microsoft.com/office/drawing/2014/main" id="{D2951BE1-A44C-5B8A-6580-05045A9663E8}"/>
              </a:ext>
            </a:extLst>
          </p:cNvPr>
          <p:cNvGrpSpPr/>
          <p:nvPr/>
        </p:nvGrpSpPr>
        <p:grpSpPr>
          <a:xfrm>
            <a:off x="9905" y="4324466"/>
            <a:ext cx="1430711" cy="743389"/>
            <a:chOff x="5159450" y="1919950"/>
            <a:chExt cx="1541050" cy="862500"/>
          </a:xfrm>
        </p:grpSpPr>
        <p:sp>
          <p:nvSpPr>
            <p:cNvPr id="108" name="Google Shape;8704;p68">
              <a:extLst>
                <a:ext uri="{FF2B5EF4-FFF2-40B4-BE49-F238E27FC236}">
                  <a16:creationId xmlns:a16="http://schemas.microsoft.com/office/drawing/2014/main" id="{598E2428-DCE1-F924-F228-87300BA75780}"/>
                </a:ext>
              </a:extLst>
            </p:cNvPr>
            <p:cNvSpPr/>
            <p:nvPr/>
          </p:nvSpPr>
          <p:spPr>
            <a:xfrm>
              <a:off x="5216414" y="2060033"/>
              <a:ext cx="1436820" cy="600250"/>
            </a:xfrm>
            <a:custGeom>
              <a:avLst/>
              <a:gdLst/>
              <a:ahLst/>
              <a:cxnLst/>
              <a:rect l="l" t="t" r="r" b="b"/>
              <a:pathLst>
                <a:path w="165771" h="69253" extrusionOk="0">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w="19050" cap="flat" cmpd="sng">
              <a:solidFill>
                <a:srgbClr val="5F7D95"/>
              </a:solidFill>
              <a:prstDash val="solid"/>
              <a:round/>
              <a:headEnd type="oval" w="med" len="med"/>
              <a:tailEnd type="oval" w="med" len="med"/>
            </a:ln>
          </p:spPr>
        </p:sp>
        <p:grpSp>
          <p:nvGrpSpPr>
            <p:cNvPr id="109" name="Google Shape;8705;p68">
              <a:extLst>
                <a:ext uri="{FF2B5EF4-FFF2-40B4-BE49-F238E27FC236}">
                  <a16:creationId xmlns:a16="http://schemas.microsoft.com/office/drawing/2014/main" id="{26B213C4-622B-CCB4-9582-7EFCD2F64030}"/>
                </a:ext>
              </a:extLst>
            </p:cNvPr>
            <p:cNvGrpSpPr/>
            <p:nvPr/>
          </p:nvGrpSpPr>
          <p:grpSpPr>
            <a:xfrm>
              <a:off x="5159450" y="1919950"/>
              <a:ext cx="1541050" cy="862500"/>
              <a:chOff x="5159450" y="1919950"/>
              <a:chExt cx="1541050" cy="862500"/>
            </a:xfrm>
          </p:grpSpPr>
          <p:cxnSp>
            <p:nvCxnSpPr>
              <p:cNvPr id="110" name="Google Shape;8706;p68">
                <a:extLst>
                  <a:ext uri="{FF2B5EF4-FFF2-40B4-BE49-F238E27FC236}">
                    <a16:creationId xmlns:a16="http://schemas.microsoft.com/office/drawing/2014/main" id="{A2A89B6A-E56F-8175-7DAF-4F85F43D832F}"/>
                  </a:ext>
                </a:extLst>
              </p:cNvPr>
              <p:cNvCxnSpPr/>
              <p:nvPr/>
            </p:nvCxnSpPr>
            <p:spPr>
              <a:xfrm>
                <a:off x="5159450" y="1919950"/>
                <a:ext cx="0" cy="862500"/>
              </a:xfrm>
              <a:prstGeom prst="straightConnector1">
                <a:avLst/>
              </a:prstGeom>
              <a:noFill/>
              <a:ln w="9525" cap="flat" cmpd="sng">
                <a:solidFill>
                  <a:srgbClr val="E3E9ED"/>
                </a:solidFill>
                <a:prstDash val="solid"/>
                <a:round/>
                <a:headEnd type="none" w="med" len="med"/>
                <a:tailEnd type="none" w="med" len="med"/>
              </a:ln>
            </p:spPr>
          </p:cxnSp>
          <p:cxnSp>
            <p:nvCxnSpPr>
              <p:cNvPr id="111" name="Google Shape;8707;p68">
                <a:extLst>
                  <a:ext uri="{FF2B5EF4-FFF2-40B4-BE49-F238E27FC236}">
                    <a16:creationId xmlns:a16="http://schemas.microsoft.com/office/drawing/2014/main" id="{9C40EF08-462B-2063-F9FE-5B20BE0558EB}"/>
                  </a:ext>
                </a:extLst>
              </p:cNvPr>
              <p:cNvCxnSpPr/>
              <p:nvPr/>
            </p:nvCxnSpPr>
            <p:spPr>
              <a:xfrm>
                <a:off x="5161200" y="2778975"/>
                <a:ext cx="1539300" cy="0"/>
              </a:xfrm>
              <a:prstGeom prst="straightConnector1">
                <a:avLst/>
              </a:prstGeom>
              <a:noFill/>
              <a:ln w="9525" cap="flat" cmpd="sng">
                <a:solidFill>
                  <a:srgbClr val="E3E9ED"/>
                </a:solidFill>
                <a:prstDash val="solid"/>
                <a:round/>
                <a:headEnd type="none" w="med" len="med"/>
                <a:tailEnd type="none" w="med" len="med"/>
              </a:ln>
            </p:spPr>
          </p:cxnSp>
        </p:grpSp>
      </p:grpSp>
    </p:spTree>
    <p:extLst>
      <p:ext uri="{BB962C8B-B14F-4D97-AF65-F5344CB8AC3E}">
        <p14:creationId xmlns:p14="http://schemas.microsoft.com/office/powerpoint/2010/main" val="2989980217"/>
      </p:ext>
    </p:extLst>
  </p:cSld>
  <p:clrMapOvr>
    <a:masterClrMapping/>
  </p:clrMapOvr>
</p:sld>
</file>

<file path=ppt/theme/theme1.xml><?xml version="1.0" encoding="utf-8"?>
<a:theme xmlns:a="http://schemas.openxmlformats.org/drawingml/2006/main" name="Elegant Bachelor Thesis by Slidesgo">
  <a:themeElements>
    <a:clrScheme name="Simple Light">
      <a:dk1>
        <a:srgbClr val="5C5C5F"/>
      </a:dk1>
      <a:lt1>
        <a:srgbClr val="CFDEE7"/>
      </a:lt1>
      <a:dk2>
        <a:srgbClr val="809FAF"/>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19</Slides>
  <Notes>8</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Elegant Bachelor Thesis by Slidesgo</vt:lpstr>
      <vt:lpstr>TITLE - PI CONTROLLED CLOSED LOOP BUCK CONVERTER</vt:lpstr>
      <vt:lpstr>Contents</vt:lpstr>
      <vt:lpstr>Introduction</vt:lpstr>
      <vt:lpstr>PowerPoint Presentation</vt:lpstr>
      <vt:lpstr>Open Loop Buck Converter</vt:lpstr>
      <vt:lpstr>Circuit Diagram Of Open Loop Buck Converter</vt:lpstr>
      <vt:lpstr>Waveform</vt:lpstr>
      <vt:lpstr>Limitations Of Open Loop Buck Converter</vt:lpstr>
      <vt:lpstr>PI Controlled Closed Loop Buck Converter</vt:lpstr>
      <vt:lpstr>PI Controlled Closed Loop Buck Converter</vt:lpstr>
      <vt:lpstr>PI Controlled Closed Loop Buck Converter</vt:lpstr>
      <vt:lpstr>Blocks used in designing the Model </vt:lpstr>
      <vt:lpstr>PowerPoint Presentation</vt:lpstr>
      <vt:lpstr>PowerPoint Presentation</vt:lpstr>
      <vt:lpstr>Variation in Vout , Duty cycle </vt:lpstr>
      <vt:lpstr>Analysis</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Elegant Bachelor Thesis</dc:title>
  <dc:creator>Kaavya</dc:creator>
  <cp:lastModifiedBy>sharuli1210@gmail.com</cp:lastModifiedBy>
  <cp:revision>2</cp:revision>
  <dcterms:created xsi:type="dcterms:W3CDTF">2025-05-04T16:23:00Z</dcterms:created>
  <dcterms:modified xsi:type="dcterms:W3CDTF">2025-05-04T19:02:37Z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8C7E6D6187B24C44BA6A122D4AC0604F_13</vt:lpwstr>
  </property>
  <property fmtid="{D5CDD505-2E9C-101B-9397-08002B2CF9AE}" pid="3" name="KSOProductBuildVer">
    <vt:lpwstr>1033-12.2.0.20795</vt:lpwstr>
  </property>
</Properties>
</file>